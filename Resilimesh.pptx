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66" r:id="rId7"/>
    <p:sldId id="259" r:id="rId8"/>
    <p:sldId id="267" r:id="rId9"/>
    <p:sldId id="268" r:id="rId10"/>
    <p:sldId id="260" r:id="rId11"/>
    <p:sldId id="261" r:id="rId12"/>
    <p:sldId id="269" r:id="rId13"/>
    <p:sldId id="262" r:id="rId14"/>
    <p:sldId id="263" r:id="rId15"/>
    <p:sldId id="264" r:id="rId16"/>
    <p:sldId id="265" r:id="rId17"/>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78"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0" d="100"/>
          <a:sy n="100" d="100"/>
        </p:scale>
        <p:origin x="0" y="0"/>
      </p:cViewPr>
      <p:guideLst>
        <p:guide orient="horz" pos="2178"/>
        <p:guide pos="2880"/>
      </p:guideLst>
    </p:cSldViewPr>
  </p:slide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9" name="Google Shape;99;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3"/>
        <p:cNvGrpSpPr/>
        <p:nvPr/>
      </p:nvGrpSpPr>
      <p:grpSpPr>
        <a:xfrm>
          <a:off x="0" y="0"/>
          <a:ext cx="0" cy="0"/>
          <a:chOff x="0" y="0"/>
          <a:chExt cx="0" cy="0"/>
        </a:xfrm>
      </p:grpSpPr>
      <p:sp>
        <p:nvSpPr>
          <p:cNvPr id="114" name="Google Shape;11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5" name="Google Shape;115;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9"/>
        <p:cNvGrpSpPr/>
        <p:nvPr/>
      </p:nvGrpSpPr>
      <p:grpSpPr>
        <a:xfrm>
          <a:off x="0" y="0"/>
          <a:ext cx="0" cy="0"/>
          <a:chOff x="0" y="0"/>
          <a:chExt cx="0" cy="0"/>
        </a:xfrm>
      </p:grpSpPr>
      <p:sp>
        <p:nvSpPr>
          <p:cNvPr id="130" name="Google Shape;13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1" name="Google Shape;131;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5"/>
        <p:cNvGrpSpPr/>
        <p:nvPr/>
      </p:nvGrpSpPr>
      <p:grpSpPr>
        <a:xfrm>
          <a:off x="0" y="0"/>
          <a:ext cx="0" cy="0"/>
          <a:chOff x="0" y="0"/>
          <a:chExt cx="0" cy="0"/>
        </a:xfrm>
      </p:grpSpPr>
      <p:sp>
        <p:nvSpPr>
          <p:cNvPr id="146" name="Google Shape;14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7" name="Google Shape;147;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1"/>
        <p:cNvGrpSpPr/>
        <p:nvPr/>
      </p:nvGrpSpPr>
      <p:grpSpPr>
        <a:xfrm>
          <a:off x="0" y="0"/>
          <a:ext cx="0" cy="0"/>
          <a:chOff x="0" y="0"/>
          <a:chExt cx="0" cy="0"/>
        </a:xfrm>
      </p:grpSpPr>
      <p:sp>
        <p:nvSpPr>
          <p:cNvPr id="162" name="Google Shape;16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3" name="Google Shape;163;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9" name="Google Shape;179;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2"/>
        <p:cNvGrpSpPr/>
        <p:nvPr/>
      </p:nvGrpSpPr>
      <p:grpSpPr>
        <a:xfrm>
          <a:off x="0" y="0"/>
          <a:ext cx="0" cy="0"/>
          <a:chOff x="0" y="0"/>
          <a:chExt cx="0" cy="0"/>
        </a:xfrm>
      </p:grpSpPr>
      <p:sp>
        <p:nvSpPr>
          <p:cNvPr id="193" name="Google Shape;19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4" name="Google Shape;194;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7"/>
        <p:cNvGrpSpPr/>
        <p:nvPr/>
      </p:nvGrpSpPr>
      <p:grpSpPr>
        <a:xfrm>
          <a:off x="0" y="0"/>
          <a:ext cx="0" cy="0"/>
          <a:chOff x="0" y="0"/>
          <a:chExt cx="0" cy="0"/>
        </a:xfrm>
      </p:grpSpPr>
      <p:sp>
        <p:nvSpPr>
          <p:cNvPr id="208" name="Google Shape;20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9" name="Google Shape;209;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3"/>
        <p:cNvGrpSpPr/>
        <p:nvPr/>
      </p:nvGrpSpPr>
      <p:grpSpPr>
        <a:xfrm>
          <a:off x="0" y="0"/>
          <a:ext cx="0" cy="0"/>
          <a:chOff x="0" y="0"/>
          <a:chExt cx="0" cy="0"/>
        </a:xfrm>
      </p:grpSpPr>
      <p:sp>
        <p:nvSpPr>
          <p:cNvPr id="224" name="Google Shape;22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25" name="Google Shape;225;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11"/>
        <p:cNvGrpSpPr/>
        <p:nvPr/>
      </p:nvGrpSpPr>
      <p:grpSpPr>
        <a:xfrm>
          <a:off x="0" y="0"/>
          <a:ext cx="0" cy="0"/>
          <a:chOff x="0" y="0"/>
          <a:chExt cx="0" cy="0"/>
        </a:xfrm>
      </p:grpSpPr>
      <p:sp>
        <p:nvSpPr>
          <p:cNvPr id="12" name="Google Shape;12;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5"/>
        <p:cNvGrpSpPr/>
        <p:nvPr/>
      </p:nvGrpSpPr>
      <p:grpSpPr>
        <a:xfrm>
          <a:off x="0" y="0"/>
          <a:ext cx="0" cy="0"/>
          <a:chOff x="0" y="0"/>
          <a:chExt cx="0" cy="0"/>
        </a:xfrm>
      </p:grpSpPr>
      <p:sp>
        <p:nvSpPr>
          <p:cNvPr id="16" name="Google Shape;16;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1"/>
        <p:cNvGrpSpPr/>
        <p:nvPr/>
      </p:nvGrpSpPr>
      <p:grpSpPr>
        <a:xfrm>
          <a:off x="0" y="0"/>
          <a:ext cx="0" cy="0"/>
          <a:chOff x="0" y="0"/>
          <a:chExt cx="0" cy="0"/>
        </a:xfrm>
      </p:grpSpPr>
      <p:sp>
        <p:nvSpPr>
          <p:cNvPr id="22" name="Google Shape;22;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4" name="Google Shape;24;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7"/>
        <p:cNvGrpSpPr/>
        <p:nvPr/>
      </p:nvGrpSpPr>
      <p:grpSpPr>
        <a:xfrm>
          <a:off x="0" y="0"/>
          <a:ext cx="0" cy="0"/>
          <a:chOff x="0" y="0"/>
          <a:chExt cx="0" cy="0"/>
        </a:xfrm>
      </p:grpSpPr>
      <p:sp>
        <p:nvSpPr>
          <p:cNvPr id="28" name="Google Shape;28;p1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30" name="Google Shape;30;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3"/>
        <p:cNvGrpSpPr/>
        <p:nvPr/>
      </p:nvGrpSpPr>
      <p:grpSpPr>
        <a:xfrm>
          <a:off x="0" y="0"/>
          <a:ext cx="0" cy="0"/>
          <a:chOff x="0" y="0"/>
          <a:chExt cx="0" cy="0"/>
        </a:xfrm>
      </p:grpSpPr>
      <p:sp>
        <p:nvSpPr>
          <p:cNvPr id="34" name="Google Shape;34;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6" name="Google Shape;36;p1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7" name="Google Shape;37;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0"/>
        <p:cNvGrpSpPr/>
        <p:nvPr/>
      </p:nvGrpSpPr>
      <p:grpSpPr>
        <a:xfrm>
          <a:off x="0" y="0"/>
          <a:ext cx="0" cy="0"/>
          <a:chOff x="0" y="0"/>
          <a:chExt cx="0" cy="0"/>
        </a:xfrm>
      </p:grpSpPr>
      <p:sp>
        <p:nvSpPr>
          <p:cNvPr id="41" name="Google Shape;41;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3" name="Google Shape;43;p1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4" name="Google Shape;44;p1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5" name="Google Shape;45;p1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6" name="Google Shape;46;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9"/>
        <p:cNvGrpSpPr/>
        <p:nvPr/>
      </p:nvGrpSpPr>
      <p:grpSpPr>
        <a:xfrm>
          <a:off x="0" y="0"/>
          <a:ext cx="0" cy="0"/>
          <a:chOff x="0" y="0"/>
          <a:chExt cx="0" cy="0"/>
        </a:xfrm>
      </p:grpSpPr>
      <p:sp>
        <p:nvSpPr>
          <p:cNvPr id="50" name="Google Shape;50;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4"/>
        <p:cNvGrpSpPr/>
        <p:nvPr/>
      </p:nvGrpSpPr>
      <p:grpSpPr>
        <a:xfrm>
          <a:off x="0" y="0"/>
          <a:ext cx="0" cy="0"/>
          <a:chOff x="0" y="0"/>
          <a:chExt cx="0" cy="0"/>
        </a:xfrm>
      </p:grpSpPr>
      <p:sp>
        <p:nvSpPr>
          <p:cNvPr id="55" name="Google Shape;55;p1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57" name="Google Shape;57;p1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58" name="Google Shape;58;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1"/>
        <p:cNvGrpSpPr/>
        <p:nvPr/>
      </p:nvGrpSpPr>
      <p:grpSpPr>
        <a:xfrm>
          <a:off x="0" y="0"/>
          <a:ext cx="0" cy="0"/>
          <a:chOff x="0" y="0"/>
          <a:chExt cx="0" cy="0"/>
        </a:xfrm>
      </p:grpSpPr>
      <p:sp>
        <p:nvSpPr>
          <p:cNvPr id="62" name="Google Shape;62;p2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0"/>
          <p:cNvSpPr>
            <a:spLocks noGrp="1"/>
          </p:cNvSpPr>
          <p:nvPr>
            <p:ph type="pic" idx="2"/>
          </p:nvPr>
        </p:nvSpPr>
        <p:spPr>
          <a:xfrm>
            <a:off x="1792288" y="612775"/>
            <a:ext cx="5486400" cy="4114800"/>
          </a:xfrm>
          <a:prstGeom prst="rect">
            <a:avLst/>
          </a:prstGeom>
          <a:noFill/>
          <a:ln>
            <a:noFill/>
          </a:ln>
        </p:spPr>
      </p:sp>
      <p:sp>
        <p:nvSpPr>
          <p:cNvPr id="64" name="Google Shape;64;p2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5" name="Google Shape;65;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68"/>
        <p:cNvGrpSpPr/>
        <p:nvPr/>
      </p:nvGrpSpPr>
      <p:grpSpPr>
        <a:xfrm>
          <a:off x="0" y="0"/>
          <a:ext cx="0" cy="0"/>
          <a:chOff x="0" y="0"/>
          <a:chExt cx="0" cy="0"/>
        </a:xfrm>
      </p:grpSpPr>
      <p:sp>
        <p:nvSpPr>
          <p:cNvPr id="69" name="Google Shape;69;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1" name="Google Shape;71;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4"/>
        <p:cNvGrpSpPr/>
        <p:nvPr/>
      </p:nvGrpSpPr>
      <p:grpSpPr>
        <a:xfrm>
          <a:off x="0" y="0"/>
          <a:ext cx="0" cy="0"/>
          <a:chOff x="0" y="0"/>
          <a:chExt cx="0" cy="0"/>
        </a:xfrm>
      </p:grpSpPr>
      <p:sp>
        <p:nvSpPr>
          <p:cNvPr id="75" name="Google Shape;75;p2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7" name="Google Shape;77;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6.jpe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grpSp>
        <p:nvGrpSpPr>
          <p:cNvPr id="84" name="Google Shape;84;p1"/>
          <p:cNvGrpSpPr/>
          <p:nvPr/>
        </p:nvGrpSpPr>
        <p:grpSpPr>
          <a:xfrm>
            <a:off x="3995767" y="-237591"/>
            <a:ext cx="10296467" cy="1734369"/>
            <a:chOff x="0" y="0"/>
            <a:chExt cx="13728622" cy="2312492"/>
          </a:xfrm>
        </p:grpSpPr>
        <p:sp>
          <p:nvSpPr>
            <p:cNvPr id="85" name="Google Shape;85;p1"/>
            <p:cNvSpPr/>
            <p:nvPr/>
          </p:nvSpPr>
          <p:spPr>
            <a:xfrm>
              <a:off x="11416130" y="0"/>
              <a:ext cx="2312492" cy="2312492"/>
            </a:xfrm>
            <a:custGeom>
              <a:avLst/>
              <a:gdLst/>
              <a:ahLst/>
              <a:cxnLst/>
              <a:rect l="l" t="t" r="r" b="b"/>
              <a:pathLst>
                <a:path w="2312492" h="2312492" extrusionOk="0">
                  <a:moveTo>
                    <a:pt x="0" y="0"/>
                  </a:moveTo>
                  <a:lnTo>
                    <a:pt x="2312492" y="0"/>
                  </a:lnTo>
                  <a:lnTo>
                    <a:pt x="2312492" y="2312492"/>
                  </a:lnTo>
                  <a:lnTo>
                    <a:pt x="0" y="2312492"/>
                  </a:lnTo>
                  <a:lnTo>
                    <a:pt x="0" y="0"/>
                  </a:lnTo>
                  <a:close/>
                </a:path>
              </a:pathLst>
            </a:custGeom>
            <a:blipFill rotWithShape="1">
              <a:blip r:embed="rId1"/>
              <a:stretch>
                <a:fillRect/>
              </a:stretch>
            </a:blipFill>
            <a:ln>
              <a:noFill/>
            </a:ln>
          </p:spPr>
        </p:sp>
        <p:sp>
          <p:nvSpPr>
            <p:cNvPr id="86" name="Google Shape;86;p1"/>
            <p:cNvSpPr/>
            <p:nvPr/>
          </p:nvSpPr>
          <p:spPr>
            <a:xfrm>
              <a:off x="9371173" y="547849"/>
              <a:ext cx="1754643" cy="1414221"/>
            </a:xfrm>
            <a:custGeom>
              <a:avLst/>
              <a:gdLst/>
              <a:ahLst/>
              <a:cxnLst/>
              <a:rect l="l" t="t" r="r" b="b"/>
              <a:pathLst>
                <a:path w="1754643" h="1414221" extrusionOk="0">
                  <a:moveTo>
                    <a:pt x="0" y="0"/>
                  </a:moveTo>
                  <a:lnTo>
                    <a:pt x="1754643" y="0"/>
                  </a:lnTo>
                  <a:lnTo>
                    <a:pt x="1754643" y="1414221"/>
                  </a:lnTo>
                  <a:lnTo>
                    <a:pt x="0" y="1414221"/>
                  </a:lnTo>
                  <a:lnTo>
                    <a:pt x="0" y="0"/>
                  </a:lnTo>
                  <a:close/>
                </a:path>
              </a:pathLst>
            </a:custGeom>
            <a:blipFill rotWithShape="1">
              <a:blip r:embed="rId2"/>
              <a:stretch>
                <a:fillRect/>
              </a:stretch>
            </a:blipFill>
            <a:ln>
              <a:noFill/>
            </a:ln>
          </p:spPr>
        </p:sp>
        <p:sp>
          <p:nvSpPr>
            <p:cNvPr id="87" name="Google Shape;87;p1"/>
            <p:cNvSpPr/>
            <p:nvPr/>
          </p:nvSpPr>
          <p:spPr>
            <a:xfrm>
              <a:off x="0" y="604703"/>
              <a:ext cx="3006153" cy="1300514"/>
            </a:xfrm>
            <a:custGeom>
              <a:avLst/>
              <a:gdLst/>
              <a:ahLst/>
              <a:cxnLst/>
              <a:rect l="l" t="t" r="r" b="b"/>
              <a:pathLst>
                <a:path w="3006153" h="1300514" extrusionOk="0">
                  <a:moveTo>
                    <a:pt x="0" y="0"/>
                  </a:moveTo>
                  <a:lnTo>
                    <a:pt x="3006153" y="0"/>
                  </a:lnTo>
                  <a:lnTo>
                    <a:pt x="3006153" y="1300513"/>
                  </a:lnTo>
                  <a:lnTo>
                    <a:pt x="0" y="1300513"/>
                  </a:lnTo>
                  <a:lnTo>
                    <a:pt x="0" y="0"/>
                  </a:lnTo>
                  <a:close/>
                </a:path>
              </a:pathLst>
            </a:custGeom>
            <a:blipFill rotWithShape="1">
              <a:blip r:embed="rId3"/>
              <a:stretch>
                <a:fillRect/>
              </a:stretch>
            </a:blipFill>
            <a:ln>
              <a:noFill/>
            </a:ln>
          </p:spPr>
        </p:sp>
        <p:sp>
          <p:nvSpPr>
            <p:cNvPr id="88" name="Google Shape;88;p1"/>
            <p:cNvSpPr/>
            <p:nvPr/>
          </p:nvSpPr>
          <p:spPr>
            <a:xfrm>
              <a:off x="3823451" y="643512"/>
              <a:ext cx="4906265" cy="1318559"/>
            </a:xfrm>
            <a:custGeom>
              <a:avLst/>
              <a:gdLst/>
              <a:ahLst/>
              <a:cxnLst/>
              <a:rect l="l" t="t" r="r" b="b"/>
              <a:pathLst>
                <a:path w="4906265" h="1318559" extrusionOk="0">
                  <a:moveTo>
                    <a:pt x="0" y="0"/>
                  </a:moveTo>
                  <a:lnTo>
                    <a:pt x="4906265" y="0"/>
                  </a:lnTo>
                  <a:lnTo>
                    <a:pt x="4906265" y="1318558"/>
                  </a:lnTo>
                  <a:lnTo>
                    <a:pt x="0" y="1318558"/>
                  </a:lnTo>
                  <a:lnTo>
                    <a:pt x="0" y="0"/>
                  </a:lnTo>
                  <a:close/>
                </a:path>
              </a:pathLst>
            </a:custGeom>
            <a:blipFill rotWithShape="1">
              <a:blip r:embed="rId4"/>
              <a:stretch>
                <a:fillRect/>
              </a:stretch>
            </a:blipFill>
            <a:ln>
              <a:noFill/>
            </a:ln>
          </p:spPr>
        </p:sp>
      </p:grpSp>
      <p:sp>
        <p:nvSpPr>
          <p:cNvPr id="89" name="Google Shape;89;p1"/>
          <p:cNvSpPr/>
          <p:nvPr/>
        </p:nvSpPr>
        <p:spPr>
          <a:xfrm>
            <a:off x="-32901" y="1051100"/>
            <a:ext cx="18323704" cy="8777017"/>
          </a:xfrm>
          <a:custGeom>
            <a:avLst/>
            <a:gdLst/>
            <a:ahLst/>
            <a:cxnLst/>
            <a:rect l="l" t="t" r="r" b="b"/>
            <a:pathLst>
              <a:path w="18323704" h="8777017" extrusionOk="0">
                <a:moveTo>
                  <a:pt x="0" y="0"/>
                </a:moveTo>
                <a:lnTo>
                  <a:pt x="18323704" y="0"/>
                </a:lnTo>
                <a:lnTo>
                  <a:pt x="18323704" y="8777017"/>
                </a:lnTo>
                <a:lnTo>
                  <a:pt x="0" y="8777017"/>
                </a:lnTo>
                <a:lnTo>
                  <a:pt x="0" y="0"/>
                </a:lnTo>
                <a:close/>
              </a:path>
            </a:pathLst>
          </a:custGeom>
          <a:blipFill rotWithShape="1">
            <a:blip r:embed="rId5">
              <a:alphaModFix amt="32999"/>
            </a:blip>
            <a:stretch>
              <a:fillRect l="-2658" b="-40752"/>
            </a:stretch>
          </a:blipFill>
          <a:ln>
            <a:noFill/>
          </a:ln>
        </p:spPr>
      </p:sp>
      <p:sp>
        <p:nvSpPr>
          <p:cNvPr id="90" name="Google Shape;90;p1"/>
          <p:cNvSpPr/>
          <p:nvPr/>
        </p:nvSpPr>
        <p:spPr>
          <a:xfrm>
            <a:off x="3511563" y="9826112"/>
            <a:ext cx="11344944" cy="460888"/>
          </a:xfrm>
          <a:custGeom>
            <a:avLst/>
            <a:gdLst/>
            <a:ahLst/>
            <a:cxnLst/>
            <a:rect l="l" t="t" r="r" b="b"/>
            <a:pathLst>
              <a:path w="11344944" h="460888" extrusionOk="0">
                <a:moveTo>
                  <a:pt x="0" y="0"/>
                </a:moveTo>
                <a:lnTo>
                  <a:pt x="11344944" y="0"/>
                </a:lnTo>
                <a:lnTo>
                  <a:pt x="11344944" y="460888"/>
                </a:lnTo>
                <a:lnTo>
                  <a:pt x="0" y="460888"/>
                </a:lnTo>
                <a:lnTo>
                  <a:pt x="0" y="0"/>
                </a:lnTo>
                <a:close/>
              </a:path>
            </a:pathLst>
          </a:custGeom>
          <a:blipFill rotWithShape="1">
            <a:blip r:embed="rId6"/>
            <a:stretch>
              <a:fillRect/>
            </a:stretch>
          </a:blipFill>
          <a:ln>
            <a:noFill/>
          </a:ln>
        </p:spPr>
      </p:sp>
      <p:sp>
        <p:nvSpPr>
          <p:cNvPr id="91" name="Google Shape;91;p1"/>
          <p:cNvSpPr txBox="1"/>
          <p:nvPr/>
        </p:nvSpPr>
        <p:spPr>
          <a:xfrm>
            <a:off x="767715" y="6562725"/>
            <a:ext cx="8392160" cy="164401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4800" b="1" i="0" u="none" strike="noStrike" cap="none">
                <a:solidFill>
                  <a:schemeClr val="dk1"/>
                </a:solidFill>
                <a:latin typeface="Arial" panose="020B0604020202020204"/>
                <a:ea typeface="Arial" panose="020B0604020202020204"/>
                <a:cs typeface="Arial" panose="020B0604020202020204"/>
                <a:sym typeface="Arial" panose="020B0604020202020204"/>
              </a:rPr>
              <a:t>TEAM FLUXION</a:t>
            </a:r>
            <a:endParaRPr lang="en-US" sz="4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92" name="Google Shape;92;p1"/>
          <p:cNvSpPr txBox="1"/>
          <p:nvPr/>
        </p:nvSpPr>
        <p:spPr>
          <a:xfrm>
            <a:off x="4179704" y="1507209"/>
            <a:ext cx="9685421"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a:solidFill>
                  <a:srgbClr val="2E3192"/>
                </a:solidFill>
                <a:latin typeface="Calibri" panose="020F0502020204030204"/>
                <a:ea typeface="Calibri" panose="020F0502020204030204"/>
                <a:cs typeface="Calibri" panose="020F0502020204030204"/>
                <a:sym typeface="Calibri" panose="020F0502020204030204"/>
              </a:rPr>
              <a:t>INNOHACK 2.0</a:t>
            </a:r>
            <a:endParaRPr sz="1800">
              <a:solidFill>
                <a:srgbClr val="2E3192"/>
              </a:solidFill>
              <a:latin typeface="Calibri" panose="020F0502020204030204"/>
              <a:ea typeface="Calibri" panose="020F0502020204030204"/>
              <a:cs typeface="Calibri" panose="020F0502020204030204"/>
              <a:sym typeface="Calibri" panose="020F0502020204030204"/>
            </a:endParaRPr>
          </a:p>
        </p:txBody>
      </p:sp>
      <p:sp>
        <p:nvSpPr>
          <p:cNvPr id="93" name="Google Shape;93;p1"/>
          <p:cNvSpPr txBox="1"/>
          <p:nvPr/>
        </p:nvSpPr>
        <p:spPr>
          <a:xfrm>
            <a:off x="886241" y="4140504"/>
            <a:ext cx="8993605" cy="6438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dk1"/>
                </a:solidFill>
                <a:latin typeface="Arial" panose="020B0604020202020204"/>
                <a:ea typeface="Arial" panose="020B0604020202020204"/>
                <a:cs typeface="Arial" panose="020B0604020202020204"/>
                <a:sym typeface="Arial" panose="020B0604020202020204"/>
              </a:rPr>
              <a:t>TRACK: </a:t>
            </a:r>
            <a:r>
              <a:rPr lang="en-US" sz="3600" b="1">
                <a:solidFill>
                  <a:schemeClr val="dk1"/>
                </a:solidFill>
                <a:latin typeface="Arial" panose="020B0604020202020204"/>
                <a:ea typeface="Arial" panose="020B0604020202020204"/>
                <a:cs typeface="Arial" panose="020B0604020202020204"/>
                <a:sym typeface="Arial" panose="020B0604020202020204"/>
              </a:rPr>
              <a:t>IOT</a:t>
            </a:r>
            <a:endParaRPr lang="en-US" sz="3600" b="1">
              <a:solidFill>
                <a:schemeClr val="dk1"/>
              </a:solidFill>
              <a:latin typeface="Arial" panose="020B0604020202020204"/>
              <a:ea typeface="Arial" panose="020B0604020202020204"/>
              <a:cs typeface="Arial" panose="020B0604020202020204"/>
              <a:sym typeface="Arial" panose="020B0604020202020204"/>
            </a:endParaRPr>
          </a:p>
        </p:txBody>
      </p:sp>
      <p:sp>
        <p:nvSpPr>
          <p:cNvPr id="94" name="Google Shape;94;p1"/>
          <p:cNvSpPr txBox="1"/>
          <p:nvPr/>
        </p:nvSpPr>
        <p:spPr>
          <a:xfrm>
            <a:off x="886460" y="4874260"/>
            <a:ext cx="11863705" cy="147510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800" b="1">
                <a:solidFill>
                  <a:schemeClr val="dk1"/>
                </a:solidFill>
                <a:latin typeface="Arial" panose="020B0604020202020204"/>
                <a:ea typeface="Arial" panose="020B0604020202020204"/>
                <a:cs typeface="Arial" panose="020B0604020202020204"/>
                <a:sym typeface="Arial" panose="020B0604020202020204"/>
              </a:rPr>
              <a:t>PROBLEM STATEMENT : </a:t>
            </a:r>
            <a:endParaRPr lang="en-US" sz="2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50000"/>
              </a:lnSpc>
              <a:spcBef>
                <a:spcPts val="0"/>
              </a:spcBef>
              <a:spcAft>
                <a:spcPts val="0"/>
              </a:spcAft>
              <a:buNone/>
            </a:pPr>
            <a:r>
              <a:rPr lang="en-US" sz="3200" b="1">
                <a:solidFill>
                  <a:schemeClr val="dk1"/>
                </a:solidFill>
                <a:latin typeface="Arial" panose="020B0604020202020204"/>
                <a:ea typeface="Arial" panose="020B0604020202020204"/>
                <a:cs typeface="Arial" panose="020B0604020202020204"/>
                <a:sym typeface="Arial" panose="020B0604020202020204"/>
              </a:rPr>
              <a:t>Real-Time Disaster aggregation using IoT Sensors</a:t>
            </a:r>
            <a:endParaRPr sz="32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5" name="Google Shape;95;p1"/>
          <p:cNvSpPr txBox="1"/>
          <p:nvPr/>
        </p:nvSpPr>
        <p:spPr>
          <a:xfrm>
            <a:off x="886241" y="7610227"/>
            <a:ext cx="8993605" cy="1567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panose="020B0604020202020204"/>
                <a:ea typeface="Arial" panose="020B0604020202020204"/>
                <a:cs typeface="Arial" panose="020B0604020202020204"/>
                <a:sym typeface="Arial" panose="020B0604020202020204"/>
              </a:rPr>
              <a:t>HARI VISHVA S - 25MIS0522</a:t>
            </a:r>
            <a:endParaRPr lang="en-US" sz="24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2400" b="1">
                <a:solidFill>
                  <a:schemeClr val="dk1"/>
                </a:solidFill>
                <a:latin typeface="Arial" panose="020B0604020202020204"/>
                <a:ea typeface="Arial" panose="020B0604020202020204"/>
                <a:cs typeface="Arial" panose="020B0604020202020204"/>
                <a:sym typeface="Arial" panose="020B0604020202020204"/>
              </a:rPr>
              <a:t>YUVARAJ H - 25MIS160</a:t>
            </a:r>
            <a:endParaRPr lang="en-US" sz="24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2400" b="1">
                <a:solidFill>
                  <a:schemeClr val="dk1"/>
                </a:solidFill>
                <a:latin typeface="Arial" panose="020B0604020202020204"/>
                <a:ea typeface="Arial" panose="020B0604020202020204"/>
                <a:cs typeface="Arial" panose="020B0604020202020204"/>
                <a:sym typeface="Arial" panose="020B0604020202020204"/>
              </a:rPr>
              <a:t>JOSHUA IMMANUEL E - 25MIS0172</a:t>
            </a:r>
            <a:endParaRPr lang="en-US" sz="24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2400" b="1">
                <a:solidFill>
                  <a:schemeClr val="dk1"/>
                </a:solidFill>
                <a:latin typeface="Arial" panose="020B0604020202020204"/>
                <a:ea typeface="Arial" panose="020B0604020202020204"/>
                <a:cs typeface="Arial" panose="020B0604020202020204"/>
                <a:sym typeface="Arial" panose="020B0604020202020204"/>
              </a:rPr>
              <a:t>AHILESH GURU S - 25MID0073</a:t>
            </a:r>
            <a:endParaRPr lang="en-US" sz="2400" b="1">
              <a:solidFill>
                <a:schemeClr val="dk1"/>
              </a:solidFill>
              <a:latin typeface="Arial" panose="020B0604020202020204"/>
              <a:ea typeface="Arial" panose="020B0604020202020204"/>
              <a:cs typeface="Arial" panose="020B0604020202020204"/>
              <a:sym typeface="Arial" panose="020B0604020202020204"/>
            </a:endParaRPr>
          </a:p>
        </p:txBody>
      </p:sp>
      <p:sp>
        <p:nvSpPr>
          <p:cNvPr id="96" name="Google Shape;96;p1"/>
          <p:cNvSpPr txBox="1"/>
          <p:nvPr/>
        </p:nvSpPr>
        <p:spPr>
          <a:xfrm>
            <a:off x="1823720" y="2531110"/>
            <a:ext cx="14396720" cy="9264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400" b="1">
                <a:solidFill>
                  <a:srgbClr val="2E3192"/>
                </a:solidFill>
                <a:latin typeface="Calibri" panose="020F0502020204030204"/>
                <a:ea typeface="Calibri" panose="020F0502020204030204"/>
                <a:cs typeface="Calibri" panose="020F0502020204030204"/>
                <a:sym typeface="Calibri" panose="020F0502020204030204"/>
              </a:rPr>
              <a:t>RESILI-MESH : DISASTER INFO AGGREGATION AND MANAGEMENT SYSTEM</a:t>
            </a:r>
            <a:endParaRPr sz="44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grpSp>
        <p:nvGrpSpPr>
          <p:cNvPr id="101" name="Google Shape;101;p2"/>
          <p:cNvGrpSpPr/>
          <p:nvPr/>
        </p:nvGrpSpPr>
        <p:grpSpPr>
          <a:xfrm>
            <a:off x="3995767" y="-237591"/>
            <a:ext cx="10296467" cy="1734369"/>
            <a:chOff x="0" y="0"/>
            <a:chExt cx="13728622" cy="2312492"/>
          </a:xfrm>
        </p:grpSpPr>
        <p:sp>
          <p:nvSpPr>
            <p:cNvPr id="102" name="Google Shape;102;p2"/>
            <p:cNvSpPr/>
            <p:nvPr/>
          </p:nvSpPr>
          <p:spPr>
            <a:xfrm>
              <a:off x="11416130" y="0"/>
              <a:ext cx="2312492" cy="2312492"/>
            </a:xfrm>
            <a:custGeom>
              <a:avLst/>
              <a:gdLst/>
              <a:ahLst/>
              <a:cxnLst/>
              <a:rect l="l" t="t" r="r" b="b"/>
              <a:pathLst>
                <a:path w="2312492" h="2312492" extrusionOk="0">
                  <a:moveTo>
                    <a:pt x="0" y="0"/>
                  </a:moveTo>
                  <a:lnTo>
                    <a:pt x="2312492" y="0"/>
                  </a:lnTo>
                  <a:lnTo>
                    <a:pt x="2312492" y="2312492"/>
                  </a:lnTo>
                  <a:lnTo>
                    <a:pt x="0" y="2312492"/>
                  </a:lnTo>
                  <a:lnTo>
                    <a:pt x="0" y="0"/>
                  </a:lnTo>
                  <a:close/>
                </a:path>
              </a:pathLst>
            </a:custGeom>
            <a:blipFill rotWithShape="1">
              <a:blip r:embed="rId1"/>
              <a:stretch>
                <a:fillRect/>
              </a:stretch>
            </a:blipFill>
            <a:ln>
              <a:noFill/>
            </a:ln>
          </p:spPr>
        </p:sp>
        <p:sp>
          <p:nvSpPr>
            <p:cNvPr id="103" name="Google Shape;103;p2"/>
            <p:cNvSpPr/>
            <p:nvPr/>
          </p:nvSpPr>
          <p:spPr>
            <a:xfrm>
              <a:off x="9371173" y="547849"/>
              <a:ext cx="1754643" cy="1414221"/>
            </a:xfrm>
            <a:custGeom>
              <a:avLst/>
              <a:gdLst/>
              <a:ahLst/>
              <a:cxnLst/>
              <a:rect l="l" t="t" r="r" b="b"/>
              <a:pathLst>
                <a:path w="1754643" h="1414221" extrusionOk="0">
                  <a:moveTo>
                    <a:pt x="0" y="0"/>
                  </a:moveTo>
                  <a:lnTo>
                    <a:pt x="1754643" y="0"/>
                  </a:lnTo>
                  <a:lnTo>
                    <a:pt x="1754643" y="1414221"/>
                  </a:lnTo>
                  <a:lnTo>
                    <a:pt x="0" y="1414221"/>
                  </a:lnTo>
                  <a:lnTo>
                    <a:pt x="0" y="0"/>
                  </a:lnTo>
                  <a:close/>
                </a:path>
              </a:pathLst>
            </a:custGeom>
            <a:blipFill rotWithShape="1">
              <a:blip r:embed="rId2"/>
              <a:stretch>
                <a:fillRect/>
              </a:stretch>
            </a:blipFill>
            <a:ln>
              <a:noFill/>
            </a:ln>
          </p:spPr>
        </p:sp>
        <p:sp>
          <p:nvSpPr>
            <p:cNvPr id="104" name="Google Shape;104;p2"/>
            <p:cNvSpPr/>
            <p:nvPr/>
          </p:nvSpPr>
          <p:spPr>
            <a:xfrm>
              <a:off x="0" y="604703"/>
              <a:ext cx="3006153" cy="1300514"/>
            </a:xfrm>
            <a:custGeom>
              <a:avLst/>
              <a:gdLst/>
              <a:ahLst/>
              <a:cxnLst/>
              <a:rect l="l" t="t" r="r" b="b"/>
              <a:pathLst>
                <a:path w="3006153" h="1300514" extrusionOk="0">
                  <a:moveTo>
                    <a:pt x="0" y="0"/>
                  </a:moveTo>
                  <a:lnTo>
                    <a:pt x="3006153" y="0"/>
                  </a:lnTo>
                  <a:lnTo>
                    <a:pt x="3006153" y="1300513"/>
                  </a:lnTo>
                  <a:lnTo>
                    <a:pt x="0" y="1300513"/>
                  </a:lnTo>
                  <a:lnTo>
                    <a:pt x="0" y="0"/>
                  </a:lnTo>
                  <a:close/>
                </a:path>
              </a:pathLst>
            </a:custGeom>
            <a:blipFill rotWithShape="1">
              <a:blip r:embed="rId3"/>
              <a:stretch>
                <a:fillRect/>
              </a:stretch>
            </a:blipFill>
            <a:ln>
              <a:noFill/>
            </a:ln>
          </p:spPr>
        </p:sp>
        <p:sp>
          <p:nvSpPr>
            <p:cNvPr id="105" name="Google Shape;105;p2"/>
            <p:cNvSpPr/>
            <p:nvPr/>
          </p:nvSpPr>
          <p:spPr>
            <a:xfrm>
              <a:off x="3823451" y="643512"/>
              <a:ext cx="4906265" cy="1318559"/>
            </a:xfrm>
            <a:custGeom>
              <a:avLst/>
              <a:gdLst/>
              <a:ahLst/>
              <a:cxnLst/>
              <a:rect l="l" t="t" r="r" b="b"/>
              <a:pathLst>
                <a:path w="4906265" h="1318559" extrusionOk="0">
                  <a:moveTo>
                    <a:pt x="0" y="0"/>
                  </a:moveTo>
                  <a:lnTo>
                    <a:pt x="4906265" y="0"/>
                  </a:lnTo>
                  <a:lnTo>
                    <a:pt x="4906265" y="1318558"/>
                  </a:lnTo>
                  <a:lnTo>
                    <a:pt x="0" y="1318558"/>
                  </a:lnTo>
                  <a:lnTo>
                    <a:pt x="0" y="0"/>
                  </a:lnTo>
                  <a:close/>
                </a:path>
              </a:pathLst>
            </a:custGeom>
            <a:blipFill rotWithShape="1">
              <a:blip r:embed="rId4"/>
              <a:stretch>
                <a:fillRect/>
              </a:stretch>
            </a:blipFill>
            <a:ln>
              <a:noFill/>
            </a:ln>
          </p:spPr>
        </p:sp>
      </p:grpSp>
      <p:sp>
        <p:nvSpPr>
          <p:cNvPr id="106" name="Google Shape;106;p2"/>
          <p:cNvSpPr/>
          <p:nvPr/>
        </p:nvSpPr>
        <p:spPr>
          <a:xfrm>
            <a:off x="119" y="1049195"/>
            <a:ext cx="18323704" cy="8777017"/>
          </a:xfrm>
          <a:custGeom>
            <a:avLst/>
            <a:gdLst/>
            <a:ahLst/>
            <a:cxnLst/>
            <a:rect l="l" t="t" r="r" b="b"/>
            <a:pathLst>
              <a:path w="18323704" h="8777017" extrusionOk="0">
                <a:moveTo>
                  <a:pt x="0" y="0"/>
                </a:moveTo>
                <a:lnTo>
                  <a:pt x="18323704" y="0"/>
                </a:lnTo>
                <a:lnTo>
                  <a:pt x="18323704" y="8777017"/>
                </a:lnTo>
                <a:lnTo>
                  <a:pt x="0" y="8777017"/>
                </a:lnTo>
                <a:lnTo>
                  <a:pt x="0" y="0"/>
                </a:lnTo>
                <a:close/>
              </a:path>
            </a:pathLst>
          </a:custGeom>
          <a:blipFill rotWithShape="1">
            <a:blip r:embed="rId5">
              <a:alphaModFix amt="32999"/>
            </a:blip>
            <a:stretch>
              <a:fillRect l="-2658" b="-40752"/>
            </a:stretch>
          </a:blipFill>
          <a:ln>
            <a:noFill/>
          </a:ln>
        </p:spPr>
      </p:sp>
      <p:sp>
        <p:nvSpPr>
          <p:cNvPr id="107" name="Google Shape;107;p2"/>
          <p:cNvSpPr/>
          <p:nvPr/>
        </p:nvSpPr>
        <p:spPr>
          <a:xfrm>
            <a:off x="3511563" y="9826112"/>
            <a:ext cx="11344944" cy="460888"/>
          </a:xfrm>
          <a:custGeom>
            <a:avLst/>
            <a:gdLst/>
            <a:ahLst/>
            <a:cxnLst/>
            <a:rect l="l" t="t" r="r" b="b"/>
            <a:pathLst>
              <a:path w="11344944" h="460888" extrusionOk="0">
                <a:moveTo>
                  <a:pt x="0" y="0"/>
                </a:moveTo>
                <a:lnTo>
                  <a:pt x="11344944" y="0"/>
                </a:lnTo>
                <a:lnTo>
                  <a:pt x="11344944" y="460888"/>
                </a:lnTo>
                <a:lnTo>
                  <a:pt x="0" y="460888"/>
                </a:lnTo>
                <a:lnTo>
                  <a:pt x="0" y="0"/>
                </a:lnTo>
                <a:close/>
              </a:path>
            </a:pathLst>
          </a:custGeom>
          <a:blipFill rotWithShape="1">
            <a:blip r:embed="rId6"/>
            <a:stretch>
              <a:fillRect/>
            </a:stretch>
          </a:blipFill>
          <a:ln>
            <a:noFill/>
          </a:ln>
        </p:spPr>
      </p:sp>
      <p:sp>
        <p:nvSpPr>
          <p:cNvPr id="108" name="Google Shape;108;p2"/>
          <p:cNvSpPr txBox="1"/>
          <p:nvPr/>
        </p:nvSpPr>
        <p:spPr>
          <a:xfrm>
            <a:off x="312420" y="7790180"/>
            <a:ext cx="17689195" cy="18135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dk1"/>
                </a:solidFill>
                <a:latin typeface="Arial" panose="020B0604020202020204"/>
                <a:ea typeface="Arial" panose="020B0604020202020204"/>
                <a:cs typeface="Arial" panose="020B0604020202020204"/>
                <a:sym typeface="Arial" panose="020B0604020202020204"/>
              </a:rPr>
              <a:t>SUPPORTING STATISTIC EXAMPLE:</a:t>
            </a:r>
            <a:endParaRPr lang="en-US" sz="2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altLang="en-US" sz="2800" b="1">
                <a:solidFill>
                  <a:schemeClr val="dk1"/>
                </a:solidFill>
                <a:latin typeface="Arial" panose="020B0604020202020204"/>
                <a:ea typeface="Arial" panose="020B0604020202020204"/>
                <a:cs typeface="Arial" panose="020B0604020202020204"/>
                <a:sym typeface="Arial" panose="020B0604020202020204"/>
              </a:rPr>
              <a:t>Floods alone kill an average of 1,700 people and affect 3.9 million people every year in India, with rural populations disproportionately affected since most live close to rivers, compounded by poor infrastructure and remote locations</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p:txBody>
      </p:sp>
      <p:sp>
        <p:nvSpPr>
          <p:cNvPr id="109" name="Google Shape;109;p2"/>
          <p:cNvSpPr txBox="1"/>
          <p:nvPr/>
        </p:nvSpPr>
        <p:spPr>
          <a:xfrm>
            <a:off x="4165933" y="1507209"/>
            <a:ext cx="9685421"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a:solidFill>
                  <a:srgbClr val="2E3192"/>
                </a:solidFill>
                <a:latin typeface="Calibri" panose="020F0502020204030204"/>
                <a:ea typeface="Calibri" panose="020F0502020204030204"/>
                <a:cs typeface="Calibri" panose="020F0502020204030204"/>
                <a:sym typeface="Calibri" panose="020F0502020204030204"/>
              </a:rPr>
              <a:t>INNOHACK 2.0</a:t>
            </a:r>
            <a:endParaRPr sz="1800">
              <a:solidFill>
                <a:srgbClr val="2E3192"/>
              </a:solidFill>
              <a:latin typeface="Calibri" panose="020F0502020204030204"/>
              <a:ea typeface="Calibri" panose="020F0502020204030204"/>
              <a:cs typeface="Calibri" panose="020F0502020204030204"/>
              <a:sym typeface="Calibri" panose="020F0502020204030204"/>
            </a:endParaRPr>
          </a:p>
        </p:txBody>
      </p:sp>
      <p:sp>
        <p:nvSpPr>
          <p:cNvPr id="110" name="Google Shape;110;p2"/>
          <p:cNvSpPr txBox="1"/>
          <p:nvPr/>
        </p:nvSpPr>
        <p:spPr>
          <a:xfrm>
            <a:off x="312420" y="3173730"/>
            <a:ext cx="17552670" cy="1567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en-US" sz="3200" b="1">
                <a:solidFill>
                  <a:schemeClr val="dk1"/>
                </a:solidFill>
                <a:latin typeface="Arial" panose="020B0604020202020204"/>
                <a:ea typeface="Arial" panose="020B0604020202020204"/>
                <a:cs typeface="Arial" panose="020B0604020202020204"/>
                <a:sym typeface="Arial" panose="020B0604020202020204"/>
              </a:rPr>
              <a:t>Rural and hilly regions prone to floods and landslides often lack real-time monitoring, and when disaster strikes, poor or absent network connectivity delays critical data from reaching rescue teams — costing precious response time exactly where it's needed most.</a:t>
            </a:r>
            <a:endParaRPr lang="en-US" altLang="en-US" sz="3200" b="1">
              <a:solidFill>
                <a:schemeClr val="dk1"/>
              </a:solidFill>
              <a:latin typeface="Arial" panose="020B0604020202020204"/>
              <a:ea typeface="Arial" panose="020B0604020202020204"/>
              <a:cs typeface="Arial" panose="020B0604020202020204"/>
              <a:sym typeface="Arial" panose="020B0604020202020204"/>
            </a:endParaRPr>
          </a:p>
        </p:txBody>
      </p:sp>
      <p:sp>
        <p:nvSpPr>
          <p:cNvPr id="111" name="Google Shape;111;p2"/>
          <p:cNvSpPr txBox="1"/>
          <p:nvPr/>
        </p:nvSpPr>
        <p:spPr>
          <a:xfrm>
            <a:off x="447040" y="5143500"/>
            <a:ext cx="16034385" cy="22440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dk1"/>
                </a:solidFill>
                <a:latin typeface="Arial" panose="020B0604020202020204"/>
                <a:ea typeface="Arial" panose="020B0604020202020204"/>
                <a:cs typeface="Arial" panose="020B0604020202020204"/>
                <a:sym typeface="Arial" panose="020B0604020202020204"/>
              </a:rPr>
              <a:t>IMPORTANCE / RELEVANCE:</a:t>
            </a:r>
            <a:endParaRPr 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85% of Indian land is vulnerable to one or more natural hazards, with floods and landslides disproportionately affecting rural, hard-to-reach populations</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Rural areas typically have the poorest network/cellular infrastructure, so exactly the places most at risk are the ones least likely to get a warning out in time</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p:txBody>
      </p:sp>
      <p:sp>
        <p:nvSpPr>
          <p:cNvPr id="112" name="Google Shape;112;p2"/>
          <p:cNvSpPr txBox="1"/>
          <p:nvPr/>
        </p:nvSpPr>
        <p:spPr>
          <a:xfrm>
            <a:off x="312470" y="2418984"/>
            <a:ext cx="9685421"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2E3192"/>
                </a:solidFill>
                <a:latin typeface="Calibri" panose="020F0502020204030204"/>
                <a:ea typeface="Calibri" panose="020F0502020204030204"/>
                <a:cs typeface="Calibri" panose="020F0502020204030204"/>
                <a:sym typeface="Calibri" panose="020F0502020204030204"/>
              </a:rPr>
              <a:t>PROBLEM STATEMENT</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grpSp>
        <p:nvGrpSpPr>
          <p:cNvPr id="117" name="Google Shape;117;p3"/>
          <p:cNvGrpSpPr/>
          <p:nvPr/>
        </p:nvGrpSpPr>
        <p:grpSpPr>
          <a:xfrm>
            <a:off x="3995767" y="-237591"/>
            <a:ext cx="10296467" cy="1734369"/>
            <a:chOff x="0" y="0"/>
            <a:chExt cx="13728622" cy="2312492"/>
          </a:xfrm>
        </p:grpSpPr>
        <p:sp>
          <p:nvSpPr>
            <p:cNvPr id="118" name="Google Shape;118;p3"/>
            <p:cNvSpPr/>
            <p:nvPr/>
          </p:nvSpPr>
          <p:spPr>
            <a:xfrm>
              <a:off x="11416130" y="0"/>
              <a:ext cx="2312492" cy="2312492"/>
            </a:xfrm>
            <a:custGeom>
              <a:avLst/>
              <a:gdLst/>
              <a:ahLst/>
              <a:cxnLst/>
              <a:rect l="l" t="t" r="r" b="b"/>
              <a:pathLst>
                <a:path w="2312492" h="2312492" extrusionOk="0">
                  <a:moveTo>
                    <a:pt x="0" y="0"/>
                  </a:moveTo>
                  <a:lnTo>
                    <a:pt x="2312492" y="0"/>
                  </a:lnTo>
                  <a:lnTo>
                    <a:pt x="2312492" y="2312492"/>
                  </a:lnTo>
                  <a:lnTo>
                    <a:pt x="0" y="2312492"/>
                  </a:lnTo>
                  <a:lnTo>
                    <a:pt x="0" y="0"/>
                  </a:lnTo>
                  <a:close/>
                </a:path>
              </a:pathLst>
            </a:custGeom>
            <a:blipFill rotWithShape="1">
              <a:blip r:embed="rId1"/>
              <a:stretch>
                <a:fillRect/>
              </a:stretch>
            </a:blipFill>
            <a:ln>
              <a:noFill/>
            </a:ln>
          </p:spPr>
        </p:sp>
        <p:sp>
          <p:nvSpPr>
            <p:cNvPr id="119" name="Google Shape;119;p3"/>
            <p:cNvSpPr/>
            <p:nvPr/>
          </p:nvSpPr>
          <p:spPr>
            <a:xfrm>
              <a:off x="9371173" y="547849"/>
              <a:ext cx="1754643" cy="1414221"/>
            </a:xfrm>
            <a:custGeom>
              <a:avLst/>
              <a:gdLst/>
              <a:ahLst/>
              <a:cxnLst/>
              <a:rect l="l" t="t" r="r" b="b"/>
              <a:pathLst>
                <a:path w="1754643" h="1414221" extrusionOk="0">
                  <a:moveTo>
                    <a:pt x="0" y="0"/>
                  </a:moveTo>
                  <a:lnTo>
                    <a:pt x="1754643" y="0"/>
                  </a:lnTo>
                  <a:lnTo>
                    <a:pt x="1754643" y="1414221"/>
                  </a:lnTo>
                  <a:lnTo>
                    <a:pt x="0" y="1414221"/>
                  </a:lnTo>
                  <a:lnTo>
                    <a:pt x="0" y="0"/>
                  </a:lnTo>
                  <a:close/>
                </a:path>
              </a:pathLst>
            </a:custGeom>
            <a:blipFill rotWithShape="1">
              <a:blip r:embed="rId2"/>
              <a:stretch>
                <a:fillRect/>
              </a:stretch>
            </a:blipFill>
            <a:ln>
              <a:noFill/>
            </a:ln>
          </p:spPr>
        </p:sp>
        <p:sp>
          <p:nvSpPr>
            <p:cNvPr id="120" name="Google Shape;120;p3"/>
            <p:cNvSpPr/>
            <p:nvPr/>
          </p:nvSpPr>
          <p:spPr>
            <a:xfrm>
              <a:off x="0" y="604703"/>
              <a:ext cx="3006153" cy="1300514"/>
            </a:xfrm>
            <a:custGeom>
              <a:avLst/>
              <a:gdLst/>
              <a:ahLst/>
              <a:cxnLst/>
              <a:rect l="l" t="t" r="r" b="b"/>
              <a:pathLst>
                <a:path w="3006153" h="1300514" extrusionOk="0">
                  <a:moveTo>
                    <a:pt x="0" y="0"/>
                  </a:moveTo>
                  <a:lnTo>
                    <a:pt x="3006153" y="0"/>
                  </a:lnTo>
                  <a:lnTo>
                    <a:pt x="3006153" y="1300513"/>
                  </a:lnTo>
                  <a:lnTo>
                    <a:pt x="0" y="1300513"/>
                  </a:lnTo>
                  <a:lnTo>
                    <a:pt x="0" y="0"/>
                  </a:lnTo>
                  <a:close/>
                </a:path>
              </a:pathLst>
            </a:custGeom>
            <a:blipFill rotWithShape="1">
              <a:blip r:embed="rId3"/>
              <a:stretch>
                <a:fillRect/>
              </a:stretch>
            </a:blipFill>
            <a:ln>
              <a:noFill/>
            </a:ln>
          </p:spPr>
        </p:sp>
        <p:sp>
          <p:nvSpPr>
            <p:cNvPr id="121" name="Google Shape;121;p3"/>
            <p:cNvSpPr/>
            <p:nvPr/>
          </p:nvSpPr>
          <p:spPr>
            <a:xfrm>
              <a:off x="3823451" y="643512"/>
              <a:ext cx="4906265" cy="1318559"/>
            </a:xfrm>
            <a:custGeom>
              <a:avLst/>
              <a:gdLst/>
              <a:ahLst/>
              <a:cxnLst/>
              <a:rect l="l" t="t" r="r" b="b"/>
              <a:pathLst>
                <a:path w="4906265" h="1318559" extrusionOk="0">
                  <a:moveTo>
                    <a:pt x="0" y="0"/>
                  </a:moveTo>
                  <a:lnTo>
                    <a:pt x="4906265" y="0"/>
                  </a:lnTo>
                  <a:lnTo>
                    <a:pt x="4906265" y="1318558"/>
                  </a:lnTo>
                  <a:lnTo>
                    <a:pt x="0" y="1318558"/>
                  </a:lnTo>
                  <a:lnTo>
                    <a:pt x="0" y="0"/>
                  </a:lnTo>
                  <a:close/>
                </a:path>
              </a:pathLst>
            </a:custGeom>
            <a:blipFill rotWithShape="1">
              <a:blip r:embed="rId4"/>
              <a:stretch>
                <a:fillRect/>
              </a:stretch>
            </a:blipFill>
            <a:ln>
              <a:noFill/>
            </a:ln>
          </p:spPr>
        </p:sp>
      </p:grpSp>
      <p:sp>
        <p:nvSpPr>
          <p:cNvPr id="122" name="Google Shape;122;p3"/>
          <p:cNvSpPr/>
          <p:nvPr/>
        </p:nvSpPr>
        <p:spPr>
          <a:xfrm>
            <a:off x="-32901" y="1051100"/>
            <a:ext cx="18323704" cy="8777017"/>
          </a:xfrm>
          <a:custGeom>
            <a:avLst/>
            <a:gdLst/>
            <a:ahLst/>
            <a:cxnLst/>
            <a:rect l="l" t="t" r="r" b="b"/>
            <a:pathLst>
              <a:path w="18323704" h="8777017" extrusionOk="0">
                <a:moveTo>
                  <a:pt x="0" y="0"/>
                </a:moveTo>
                <a:lnTo>
                  <a:pt x="18323704" y="0"/>
                </a:lnTo>
                <a:lnTo>
                  <a:pt x="18323704" y="8777017"/>
                </a:lnTo>
                <a:lnTo>
                  <a:pt x="0" y="8777017"/>
                </a:lnTo>
                <a:lnTo>
                  <a:pt x="0" y="0"/>
                </a:lnTo>
                <a:close/>
              </a:path>
            </a:pathLst>
          </a:custGeom>
          <a:blipFill rotWithShape="1">
            <a:blip r:embed="rId5">
              <a:alphaModFix amt="32999"/>
            </a:blip>
            <a:stretch>
              <a:fillRect l="-2658" b="-40752"/>
            </a:stretch>
          </a:blipFill>
          <a:ln>
            <a:noFill/>
          </a:ln>
        </p:spPr>
      </p:sp>
      <p:sp>
        <p:nvSpPr>
          <p:cNvPr id="123" name="Google Shape;123;p3"/>
          <p:cNvSpPr/>
          <p:nvPr/>
        </p:nvSpPr>
        <p:spPr>
          <a:xfrm>
            <a:off x="3511563" y="9826112"/>
            <a:ext cx="11344944" cy="460888"/>
          </a:xfrm>
          <a:custGeom>
            <a:avLst/>
            <a:gdLst/>
            <a:ahLst/>
            <a:cxnLst/>
            <a:rect l="l" t="t" r="r" b="b"/>
            <a:pathLst>
              <a:path w="11344944" h="460888" extrusionOk="0">
                <a:moveTo>
                  <a:pt x="0" y="0"/>
                </a:moveTo>
                <a:lnTo>
                  <a:pt x="11344944" y="0"/>
                </a:lnTo>
                <a:lnTo>
                  <a:pt x="11344944" y="460888"/>
                </a:lnTo>
                <a:lnTo>
                  <a:pt x="0" y="460888"/>
                </a:lnTo>
                <a:lnTo>
                  <a:pt x="0" y="0"/>
                </a:lnTo>
                <a:close/>
              </a:path>
            </a:pathLst>
          </a:custGeom>
          <a:blipFill rotWithShape="1">
            <a:blip r:embed="rId6"/>
            <a:stretch>
              <a:fillRect/>
            </a:stretch>
          </a:blipFill>
          <a:ln>
            <a:noFill/>
          </a:ln>
        </p:spPr>
      </p:sp>
      <p:sp>
        <p:nvSpPr>
          <p:cNvPr id="124" name="Google Shape;124;p3"/>
          <p:cNvSpPr txBox="1"/>
          <p:nvPr/>
        </p:nvSpPr>
        <p:spPr>
          <a:xfrm>
            <a:off x="12339736" y="1500794"/>
            <a:ext cx="8993605" cy="3670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5" name="Google Shape;125;p3"/>
          <p:cNvSpPr txBox="1"/>
          <p:nvPr/>
        </p:nvSpPr>
        <p:spPr>
          <a:xfrm>
            <a:off x="4117734" y="1500323"/>
            <a:ext cx="9685421"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a:solidFill>
                  <a:srgbClr val="2E3192"/>
                </a:solidFill>
                <a:latin typeface="Calibri" panose="020F0502020204030204"/>
                <a:ea typeface="Calibri" panose="020F0502020204030204"/>
                <a:cs typeface="Calibri" panose="020F0502020204030204"/>
                <a:sym typeface="Calibri" panose="020F0502020204030204"/>
              </a:rPr>
              <a:t>INNOHACK 2.0</a:t>
            </a:r>
            <a:endParaRPr sz="1800">
              <a:solidFill>
                <a:srgbClr val="2E3192"/>
              </a:solidFill>
              <a:latin typeface="Calibri" panose="020F0502020204030204"/>
              <a:ea typeface="Calibri" panose="020F0502020204030204"/>
              <a:cs typeface="Calibri" panose="020F0502020204030204"/>
              <a:sym typeface="Calibri" panose="020F0502020204030204"/>
            </a:endParaRPr>
          </a:p>
        </p:txBody>
      </p:sp>
      <p:sp>
        <p:nvSpPr>
          <p:cNvPr id="126" name="Google Shape;126;p3"/>
          <p:cNvSpPr txBox="1"/>
          <p:nvPr/>
        </p:nvSpPr>
        <p:spPr>
          <a:xfrm>
            <a:off x="774065" y="3294380"/>
            <a:ext cx="16372840" cy="5260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en-US" sz="2800" b="1">
                <a:solidFill>
                  <a:schemeClr val="dk1"/>
                </a:solidFill>
                <a:latin typeface="Arial" panose="020B0604020202020204"/>
                <a:ea typeface="Arial" panose="020B0604020202020204"/>
                <a:cs typeface="Arial" panose="020B0604020202020204"/>
                <a:sym typeface="Arial" panose="020B0604020202020204"/>
              </a:rPr>
              <a:t>A hybrid hardware + software disaster monitoring system built on a LoRa mesh network of sensor nodes:</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Node A (River Zone): ESP32 + LoRa, fitted with an ultrasonic sensor (water level) and a barometer (temperature/pressure) — monitors flood risk</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Node B (Hilly/Landslide Zone): ESP32 + LoRa, fitted with rain, soil moisture, and vibration sensors — monitors landslide risk</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Node C (Rescue Department): ESP32 + LoRa receiver, collecting data relayed from A and B, hosting a local WiFi webpage that displays live sensor readings and a predicted disaster status per zone — no internet required at any stage</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Data hops node-to-node like a mesh (A → B → C), so even nodes physically out of range of the rescue station can still get their data through</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p:txBody>
      </p:sp>
      <p:sp>
        <p:nvSpPr>
          <p:cNvPr id="127" name="Google Shape;127;p3"/>
          <p:cNvSpPr txBox="1"/>
          <p:nvPr/>
        </p:nvSpPr>
        <p:spPr>
          <a:xfrm>
            <a:off x="-33239" y="1463068"/>
            <a:ext cx="8993605" cy="3670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8" name="Google Shape;128;p3"/>
          <p:cNvSpPr txBox="1"/>
          <p:nvPr/>
        </p:nvSpPr>
        <p:spPr>
          <a:xfrm>
            <a:off x="888415" y="2216419"/>
            <a:ext cx="9685421"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2E3192"/>
                </a:solidFill>
                <a:latin typeface="Calibri" panose="020F0502020204030204"/>
                <a:ea typeface="Calibri" panose="020F0502020204030204"/>
                <a:cs typeface="Calibri" panose="020F0502020204030204"/>
                <a:sym typeface="Calibri" panose="020F0502020204030204"/>
              </a:rPr>
              <a:t>PROPOSED SOLUTION</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54050" y="728345"/>
            <a:ext cx="16657320" cy="3107690"/>
          </a:xfrm>
          <a:prstGeom prst="rect">
            <a:avLst/>
          </a:prstGeom>
          <a:noFill/>
        </p:spPr>
        <p:txBody>
          <a:bodyPr wrap="square" rtlCol="0" anchor="t">
            <a:spAutoFit/>
          </a:bodyPr>
          <a:p>
            <a:pPr marL="0" marR="0" lvl="0" indent="0" algn="l" rtl="0">
              <a:spcBef>
                <a:spcPts val="0"/>
              </a:spcBef>
              <a:spcAft>
                <a:spcPts val="0"/>
              </a:spcAft>
              <a:buNone/>
            </a:pPr>
            <a:r>
              <a:rPr lang="en-US" sz="2800" b="1">
                <a:solidFill>
                  <a:schemeClr val="dk1"/>
                </a:solidFill>
                <a:sym typeface="Arial" panose="020B0604020202020204"/>
              </a:rPr>
              <a:t>HOW DOES IT SOLVE THE PROBLEM?</a:t>
            </a:r>
            <a:endParaRPr lang="en-US" sz="2800" b="1">
              <a:solidFill>
                <a:schemeClr val="dk1"/>
              </a:solidFill>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sym typeface="Arial" panose="020B0604020202020204"/>
              </a:rPr>
              <a:t>Removes dependency on cellular network/internet — the exact infrastructure that's weakest in rural and disaster-affected areas — by using long-range LoRa RF communication instead</a:t>
            </a:r>
            <a:endParaRPr lang="en-US" altLang="en-US" sz="2800" b="1">
              <a:solidFill>
                <a:schemeClr val="dk1"/>
              </a:solidFill>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sym typeface="Arial" panose="020B0604020202020204"/>
              </a:rPr>
              <a:t>Places sensing directly at the hazard source (riverbanks, slide-prone slopes), so risk is detected at the point of origin rather than relying on manual reports after the fact</a:t>
            </a:r>
            <a:endParaRPr lang="en-US" altLang="en-US" sz="2800" b="1">
              <a:solidFill>
                <a:schemeClr val="dk1"/>
              </a:solidFill>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sym typeface="Arial" panose="020B0604020202020204"/>
              </a:rPr>
              <a:t>Mesh relay design means coverage can extend across a village even where no single node has direct line-of-sight/range to the rescue station</a:t>
            </a:r>
            <a:endParaRPr lang="en-US" altLang="en-US" sz="2800" b="1">
              <a:solidFill>
                <a:schemeClr val="dk1"/>
              </a:solidFill>
              <a:sym typeface="Arial" panose="020B0604020202020204"/>
            </a:endParaRPr>
          </a:p>
        </p:txBody>
      </p:sp>
      <p:sp>
        <p:nvSpPr>
          <p:cNvPr id="4" name="Text Box 3"/>
          <p:cNvSpPr txBox="1"/>
          <p:nvPr/>
        </p:nvSpPr>
        <p:spPr>
          <a:xfrm>
            <a:off x="654050" y="4360545"/>
            <a:ext cx="16657320" cy="3969385"/>
          </a:xfrm>
          <a:prstGeom prst="rect">
            <a:avLst/>
          </a:prstGeom>
          <a:noFill/>
        </p:spPr>
        <p:txBody>
          <a:bodyPr wrap="square" rtlCol="0" anchor="t">
            <a:spAutoFit/>
          </a:bodyPr>
          <a:p>
            <a:pPr marL="0" marR="0" lvl="0" indent="0" algn="l" rtl="0">
              <a:spcBef>
                <a:spcPts val="0"/>
              </a:spcBef>
              <a:spcAft>
                <a:spcPts val="0"/>
              </a:spcAft>
              <a:buNone/>
            </a:pPr>
            <a:r>
              <a:rPr lang="en-US" sz="2800" b="1">
                <a:solidFill>
                  <a:schemeClr val="dk1"/>
                </a:solidFill>
                <a:sym typeface="Arial" panose="020B0604020202020204"/>
              </a:rPr>
              <a:t>WHAT MAKES IT INNOVATIVE?</a:t>
            </a:r>
            <a:endParaRPr lang="en-US" sz="2800" b="1">
              <a:solidFill>
                <a:schemeClr val="dk1"/>
              </a:solidFill>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sym typeface="Arial" panose="020B0604020202020204"/>
              </a:rPr>
              <a:t>Fully offline, end-to-end: sensing, relaying, and viewing all work with zero internet or cellular dependency</a:t>
            </a:r>
            <a:endParaRPr lang="en-US" altLang="en-US" sz="2800" b="1">
              <a:solidFill>
                <a:schemeClr val="dk1"/>
              </a:solidFill>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sym typeface="Arial" panose="020B0604020202020204"/>
              </a:rPr>
              <a:t>Fully offline, end-to-end: sensing, relaying, and viewing all work with zero internet or cellular dependency</a:t>
            </a:r>
            <a:endParaRPr lang="en-US" altLang="en-US" sz="2800" b="1">
              <a:solidFill>
                <a:schemeClr val="dk1"/>
              </a:solidFill>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sym typeface="Arial" panose="020B0604020202020204"/>
              </a:rPr>
              <a:t>Combines multiple hazard types (flood + landslide) in one unified network and one unified rescue-facing dashboard, rather than siloed single-sensor systems</a:t>
            </a:r>
            <a:endParaRPr lang="en-US" altLang="en-US" sz="2800" b="1">
              <a:solidFill>
                <a:schemeClr val="dk1"/>
              </a:solidFill>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sym typeface="Arial" panose="020B0604020202020204"/>
              </a:rPr>
              <a:t>Low-cost, low-power hardware (ESP32 + LoRa) makes it realistic to deploy at scale in resource-constrained rural regions, unlike expensive centralized monitoring stations</a:t>
            </a:r>
            <a:endParaRPr lang="en-US" altLang="en-US" sz="2800" b="1">
              <a:solidFill>
                <a:schemeClr val="dk1"/>
              </a:solidFill>
              <a:sym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grpSp>
        <p:nvGrpSpPr>
          <p:cNvPr id="133" name="Google Shape;133;p4"/>
          <p:cNvGrpSpPr/>
          <p:nvPr/>
        </p:nvGrpSpPr>
        <p:grpSpPr>
          <a:xfrm>
            <a:off x="3995767" y="-237591"/>
            <a:ext cx="10296467" cy="1734369"/>
            <a:chOff x="0" y="0"/>
            <a:chExt cx="13728622" cy="2312492"/>
          </a:xfrm>
        </p:grpSpPr>
        <p:sp>
          <p:nvSpPr>
            <p:cNvPr id="134" name="Google Shape;134;p4"/>
            <p:cNvSpPr/>
            <p:nvPr/>
          </p:nvSpPr>
          <p:spPr>
            <a:xfrm>
              <a:off x="11416130" y="0"/>
              <a:ext cx="2312492" cy="2312492"/>
            </a:xfrm>
            <a:custGeom>
              <a:avLst/>
              <a:gdLst/>
              <a:ahLst/>
              <a:cxnLst/>
              <a:rect l="l" t="t" r="r" b="b"/>
              <a:pathLst>
                <a:path w="2312492" h="2312492" extrusionOk="0">
                  <a:moveTo>
                    <a:pt x="0" y="0"/>
                  </a:moveTo>
                  <a:lnTo>
                    <a:pt x="2312492" y="0"/>
                  </a:lnTo>
                  <a:lnTo>
                    <a:pt x="2312492" y="2312492"/>
                  </a:lnTo>
                  <a:lnTo>
                    <a:pt x="0" y="2312492"/>
                  </a:lnTo>
                  <a:lnTo>
                    <a:pt x="0" y="0"/>
                  </a:lnTo>
                  <a:close/>
                </a:path>
              </a:pathLst>
            </a:custGeom>
            <a:blipFill rotWithShape="1">
              <a:blip r:embed="rId1"/>
              <a:stretch>
                <a:fillRect/>
              </a:stretch>
            </a:blipFill>
            <a:ln>
              <a:noFill/>
            </a:ln>
          </p:spPr>
        </p:sp>
        <p:sp>
          <p:nvSpPr>
            <p:cNvPr id="135" name="Google Shape;135;p4"/>
            <p:cNvSpPr/>
            <p:nvPr/>
          </p:nvSpPr>
          <p:spPr>
            <a:xfrm>
              <a:off x="9371173" y="547849"/>
              <a:ext cx="1754643" cy="1414221"/>
            </a:xfrm>
            <a:custGeom>
              <a:avLst/>
              <a:gdLst/>
              <a:ahLst/>
              <a:cxnLst/>
              <a:rect l="l" t="t" r="r" b="b"/>
              <a:pathLst>
                <a:path w="1754643" h="1414221" extrusionOk="0">
                  <a:moveTo>
                    <a:pt x="0" y="0"/>
                  </a:moveTo>
                  <a:lnTo>
                    <a:pt x="1754643" y="0"/>
                  </a:lnTo>
                  <a:lnTo>
                    <a:pt x="1754643" y="1414221"/>
                  </a:lnTo>
                  <a:lnTo>
                    <a:pt x="0" y="1414221"/>
                  </a:lnTo>
                  <a:lnTo>
                    <a:pt x="0" y="0"/>
                  </a:lnTo>
                  <a:close/>
                </a:path>
              </a:pathLst>
            </a:custGeom>
            <a:blipFill rotWithShape="1">
              <a:blip r:embed="rId2"/>
              <a:stretch>
                <a:fillRect/>
              </a:stretch>
            </a:blipFill>
            <a:ln>
              <a:noFill/>
            </a:ln>
          </p:spPr>
        </p:sp>
        <p:sp>
          <p:nvSpPr>
            <p:cNvPr id="136" name="Google Shape;136;p4"/>
            <p:cNvSpPr/>
            <p:nvPr/>
          </p:nvSpPr>
          <p:spPr>
            <a:xfrm>
              <a:off x="0" y="604703"/>
              <a:ext cx="3006153" cy="1300514"/>
            </a:xfrm>
            <a:custGeom>
              <a:avLst/>
              <a:gdLst/>
              <a:ahLst/>
              <a:cxnLst/>
              <a:rect l="l" t="t" r="r" b="b"/>
              <a:pathLst>
                <a:path w="3006153" h="1300514" extrusionOk="0">
                  <a:moveTo>
                    <a:pt x="0" y="0"/>
                  </a:moveTo>
                  <a:lnTo>
                    <a:pt x="3006153" y="0"/>
                  </a:lnTo>
                  <a:lnTo>
                    <a:pt x="3006153" y="1300513"/>
                  </a:lnTo>
                  <a:lnTo>
                    <a:pt x="0" y="1300513"/>
                  </a:lnTo>
                  <a:lnTo>
                    <a:pt x="0" y="0"/>
                  </a:lnTo>
                  <a:close/>
                </a:path>
              </a:pathLst>
            </a:custGeom>
            <a:blipFill rotWithShape="1">
              <a:blip r:embed="rId3"/>
              <a:stretch>
                <a:fillRect/>
              </a:stretch>
            </a:blipFill>
            <a:ln>
              <a:noFill/>
            </a:ln>
          </p:spPr>
        </p:sp>
        <p:sp>
          <p:nvSpPr>
            <p:cNvPr id="137" name="Google Shape;137;p4"/>
            <p:cNvSpPr/>
            <p:nvPr/>
          </p:nvSpPr>
          <p:spPr>
            <a:xfrm>
              <a:off x="3823451" y="643512"/>
              <a:ext cx="4906265" cy="1318559"/>
            </a:xfrm>
            <a:custGeom>
              <a:avLst/>
              <a:gdLst/>
              <a:ahLst/>
              <a:cxnLst/>
              <a:rect l="l" t="t" r="r" b="b"/>
              <a:pathLst>
                <a:path w="4906265" h="1318559" extrusionOk="0">
                  <a:moveTo>
                    <a:pt x="0" y="0"/>
                  </a:moveTo>
                  <a:lnTo>
                    <a:pt x="4906265" y="0"/>
                  </a:lnTo>
                  <a:lnTo>
                    <a:pt x="4906265" y="1318558"/>
                  </a:lnTo>
                  <a:lnTo>
                    <a:pt x="0" y="1318558"/>
                  </a:lnTo>
                  <a:lnTo>
                    <a:pt x="0" y="0"/>
                  </a:lnTo>
                  <a:close/>
                </a:path>
              </a:pathLst>
            </a:custGeom>
            <a:blipFill rotWithShape="1">
              <a:blip r:embed="rId4"/>
              <a:stretch>
                <a:fillRect/>
              </a:stretch>
            </a:blipFill>
            <a:ln>
              <a:noFill/>
            </a:ln>
          </p:spPr>
        </p:sp>
      </p:grpSp>
      <p:sp>
        <p:nvSpPr>
          <p:cNvPr id="138" name="Google Shape;138;p4"/>
          <p:cNvSpPr/>
          <p:nvPr/>
        </p:nvSpPr>
        <p:spPr>
          <a:xfrm>
            <a:off x="3511563" y="9826112"/>
            <a:ext cx="11344944" cy="460888"/>
          </a:xfrm>
          <a:custGeom>
            <a:avLst/>
            <a:gdLst/>
            <a:ahLst/>
            <a:cxnLst/>
            <a:rect l="l" t="t" r="r" b="b"/>
            <a:pathLst>
              <a:path w="11344944" h="460888" extrusionOk="0">
                <a:moveTo>
                  <a:pt x="0" y="0"/>
                </a:moveTo>
                <a:lnTo>
                  <a:pt x="11344944" y="0"/>
                </a:lnTo>
                <a:lnTo>
                  <a:pt x="11344944" y="460888"/>
                </a:lnTo>
                <a:lnTo>
                  <a:pt x="0" y="460888"/>
                </a:lnTo>
                <a:lnTo>
                  <a:pt x="0" y="0"/>
                </a:lnTo>
                <a:close/>
              </a:path>
            </a:pathLst>
          </a:custGeom>
          <a:blipFill rotWithShape="1">
            <a:blip r:embed="rId5"/>
            <a:stretch>
              <a:fillRect/>
            </a:stretch>
          </a:blipFill>
          <a:ln>
            <a:noFill/>
          </a:ln>
        </p:spPr>
      </p:sp>
      <p:sp>
        <p:nvSpPr>
          <p:cNvPr id="139" name="Google Shape;139;p4"/>
          <p:cNvSpPr/>
          <p:nvPr/>
        </p:nvSpPr>
        <p:spPr>
          <a:xfrm>
            <a:off x="-32901" y="1051100"/>
            <a:ext cx="18323704" cy="8777017"/>
          </a:xfrm>
          <a:custGeom>
            <a:avLst/>
            <a:gdLst/>
            <a:ahLst/>
            <a:cxnLst/>
            <a:rect l="l" t="t" r="r" b="b"/>
            <a:pathLst>
              <a:path w="18323704" h="8777017" extrusionOk="0">
                <a:moveTo>
                  <a:pt x="0" y="0"/>
                </a:moveTo>
                <a:lnTo>
                  <a:pt x="18323704" y="0"/>
                </a:lnTo>
                <a:lnTo>
                  <a:pt x="18323704" y="8777017"/>
                </a:lnTo>
                <a:lnTo>
                  <a:pt x="0" y="8777017"/>
                </a:lnTo>
                <a:lnTo>
                  <a:pt x="0" y="0"/>
                </a:lnTo>
                <a:close/>
              </a:path>
            </a:pathLst>
          </a:custGeom>
          <a:blipFill rotWithShape="1">
            <a:blip r:embed="rId6">
              <a:alphaModFix amt="32999"/>
            </a:blip>
            <a:stretch>
              <a:fillRect l="-2658" b="-40752"/>
            </a:stretch>
          </a:blipFill>
          <a:ln>
            <a:noFill/>
          </a:ln>
        </p:spPr>
      </p:sp>
      <p:sp>
        <p:nvSpPr>
          <p:cNvPr id="141" name="Google Shape;141;p4"/>
          <p:cNvSpPr txBox="1"/>
          <p:nvPr/>
        </p:nvSpPr>
        <p:spPr>
          <a:xfrm>
            <a:off x="4165933" y="1507209"/>
            <a:ext cx="9685421"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a:solidFill>
                  <a:srgbClr val="2E3192"/>
                </a:solidFill>
                <a:latin typeface="Calibri" panose="020F0502020204030204"/>
                <a:ea typeface="Calibri" panose="020F0502020204030204"/>
                <a:cs typeface="Calibri" panose="020F0502020204030204"/>
                <a:sym typeface="Calibri" panose="020F0502020204030204"/>
              </a:rPr>
              <a:t>INNOHACK 2.0</a:t>
            </a:r>
            <a:endParaRPr sz="1800">
              <a:solidFill>
                <a:srgbClr val="2E3192"/>
              </a:solidFill>
              <a:latin typeface="Calibri" panose="020F0502020204030204"/>
              <a:ea typeface="Calibri" panose="020F0502020204030204"/>
              <a:cs typeface="Calibri" panose="020F0502020204030204"/>
              <a:sym typeface="Calibri" panose="020F0502020204030204"/>
            </a:endParaRPr>
          </a:p>
        </p:txBody>
      </p:sp>
      <p:sp>
        <p:nvSpPr>
          <p:cNvPr id="142" name="Google Shape;142;p4"/>
          <p:cNvSpPr txBox="1"/>
          <p:nvPr/>
        </p:nvSpPr>
        <p:spPr>
          <a:xfrm>
            <a:off x="888365" y="3098165"/>
            <a:ext cx="16473170" cy="655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dk1"/>
                </a:solidFill>
                <a:latin typeface="Arial" panose="020B0604020202020204"/>
                <a:ea typeface="Arial" panose="020B0604020202020204"/>
                <a:cs typeface="Arial" panose="020B0604020202020204"/>
                <a:sym typeface="Arial" panose="020B0604020202020204"/>
              </a:rPr>
              <a:t>TOOLS, TECHNOLOGIES OR COMPONENTS USED</a:t>
            </a:r>
            <a:endParaRPr lang="en-US" sz="2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lang="en-US" sz="2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altLang="en-US" sz="2800" b="1">
                <a:solidFill>
                  <a:schemeClr val="dk1"/>
                </a:solidFill>
                <a:latin typeface="Arial" panose="020B0604020202020204"/>
                <a:ea typeface="Arial" panose="020B0604020202020204"/>
                <a:cs typeface="Arial" panose="020B0604020202020204"/>
                <a:sym typeface="Arial" panose="020B0604020202020204"/>
              </a:rPr>
              <a:t>HARDWARE:</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ESP32 microcontroller (×3) — WiFi + processing for each node</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SX1278/LoRa module (×3) — long-range wireless communication (433 MHz)</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Ultrasonic sensor — water level (Node A)</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Barometer (BMP280/BME280) — temperature &amp; pressure (Node A)</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Rain sensor, soil moisture sensor, vibration sensor — landslide indicators (Node B)</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altLang="en-US" sz="2800" b="1">
                <a:solidFill>
                  <a:schemeClr val="dk1"/>
                </a:solidFill>
                <a:latin typeface="Arial" panose="020B0604020202020204"/>
                <a:ea typeface="Arial" panose="020B0604020202020204"/>
                <a:cs typeface="Arial" panose="020B0604020202020204"/>
                <a:sym typeface="Arial" panose="020B0604020202020204"/>
              </a:rPr>
              <a:t>SOFTWARE:</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Arduino IDE / C++ for ESP32 firmware</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LoRa library (Sandeep Mistry) for SPI-based LoRa communication</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ESP32 WebServer library — hosts local webpage at Node C</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HTML/CSS/JS — dashboard frontend served locally, no internet dependency</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Hardcoded threshold logic — computes disaster probability/state from sensor values</a:t>
            </a:r>
            <a:r>
              <a:rPr lang="en-US" sz="2800" b="1">
                <a:solidFill>
                  <a:schemeClr val="dk1"/>
                </a:solidFill>
                <a:latin typeface="Arial" panose="020B0604020202020204"/>
                <a:ea typeface="Arial" panose="020B0604020202020204"/>
                <a:cs typeface="Arial" panose="020B0604020202020204"/>
                <a:sym typeface="Arial" panose="020B0604020202020204"/>
              </a:rPr>
              <a:t> </a:t>
            </a:r>
            <a:endParaRPr lang="en-US" sz="2800" b="1">
              <a:solidFill>
                <a:schemeClr val="dk1"/>
              </a:solidFill>
              <a:latin typeface="Arial" panose="020B0604020202020204"/>
              <a:ea typeface="Arial" panose="020B0604020202020204"/>
              <a:cs typeface="Arial" panose="020B0604020202020204"/>
              <a:sym typeface="Arial" panose="020B0604020202020204"/>
            </a:endParaRPr>
          </a:p>
        </p:txBody>
      </p:sp>
      <p:sp>
        <p:nvSpPr>
          <p:cNvPr id="144" name="Google Shape;144;p4"/>
          <p:cNvSpPr txBox="1"/>
          <p:nvPr/>
        </p:nvSpPr>
        <p:spPr>
          <a:xfrm>
            <a:off x="888415" y="2216419"/>
            <a:ext cx="9685421"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2E3192"/>
                </a:solidFill>
                <a:latin typeface="Calibri" panose="020F0502020204030204"/>
                <a:ea typeface="Calibri" panose="020F0502020204030204"/>
                <a:cs typeface="Calibri" panose="020F0502020204030204"/>
                <a:sym typeface="Calibri" panose="020F0502020204030204"/>
              </a:rPr>
              <a:t>TECHNICAL APPROACH</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823595" y="643890"/>
            <a:ext cx="9144000" cy="521970"/>
          </a:xfrm>
          <a:prstGeom prst="rect">
            <a:avLst/>
          </a:prstGeom>
          <a:noFill/>
        </p:spPr>
        <p:txBody>
          <a:bodyPr wrap="square" rtlCol="0" anchor="t">
            <a:spAutoFit/>
          </a:bodyPr>
          <a:p>
            <a:pPr marL="0" marR="0" lvl="0" indent="0" algn="l" rtl="0">
              <a:spcBef>
                <a:spcPts val="0"/>
              </a:spcBef>
              <a:spcAft>
                <a:spcPts val="0"/>
              </a:spcAft>
              <a:buNone/>
            </a:pPr>
            <a:r>
              <a:rPr lang="en-US" sz="2800" b="1">
                <a:solidFill>
                  <a:schemeClr val="dk1"/>
                </a:solidFill>
                <a:sym typeface="Arial" panose="020B0604020202020204"/>
              </a:rPr>
              <a:t>WORKFLOW / ARCHITECTURE DIAGRAM</a:t>
            </a:r>
            <a:endParaRPr lang="en-US" sz="2800" b="1">
              <a:solidFill>
                <a:schemeClr val="dk1"/>
              </a:solidFill>
              <a:sym typeface="Arial" panose="020B0604020202020204"/>
            </a:endParaRPr>
          </a:p>
        </p:txBody>
      </p:sp>
      <p:pic>
        <p:nvPicPr>
          <p:cNvPr id="5" name="Picture 4" descr="disaster_mesh_architecture"/>
          <p:cNvPicPr>
            <a:picLocks noChangeAspect="1"/>
          </p:cNvPicPr>
          <p:nvPr/>
        </p:nvPicPr>
        <p:blipFill>
          <a:blip r:embed="rId1"/>
          <a:stretch>
            <a:fillRect/>
          </a:stretch>
        </p:blipFill>
        <p:spPr>
          <a:xfrm>
            <a:off x="1296035" y="1827530"/>
            <a:ext cx="13491845" cy="84588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92505" y="914400"/>
            <a:ext cx="14968855" cy="8278495"/>
          </a:xfrm>
          <a:prstGeom prst="rect">
            <a:avLst/>
          </a:prstGeom>
          <a:noFill/>
        </p:spPr>
        <p:txBody>
          <a:bodyPr wrap="square" rtlCol="0" anchor="t">
            <a:spAutoFit/>
          </a:bodyPr>
          <a:p>
            <a:pPr marL="0" marR="0" lvl="0" indent="0" algn="l" rtl="0">
              <a:spcBef>
                <a:spcPts val="0"/>
              </a:spcBef>
              <a:spcAft>
                <a:spcPts val="0"/>
              </a:spcAft>
              <a:buNone/>
            </a:pPr>
            <a:r>
              <a:rPr lang="en-US" sz="2800" b="1">
                <a:solidFill>
                  <a:schemeClr val="dk1"/>
                </a:solidFill>
                <a:sym typeface="Arial" panose="020B0604020202020204"/>
              </a:rPr>
              <a:t>IMPLEMENTATION DETAILS</a:t>
            </a:r>
            <a:endParaRPr lang="en-US" sz="2800" b="1">
              <a:solidFill>
                <a:schemeClr val="dk1"/>
              </a:solidFill>
              <a:sym typeface="Arial" panose="020B0604020202020204"/>
            </a:endParaRPr>
          </a:p>
          <a:p>
            <a:pPr marL="0" marR="0" lvl="0" indent="0" algn="l" rtl="0">
              <a:spcBef>
                <a:spcPts val="0"/>
              </a:spcBef>
              <a:spcAft>
                <a:spcPts val="0"/>
              </a:spcAft>
              <a:buNone/>
            </a:pPr>
            <a:endParaRPr lang="en-US" sz="2800" b="1">
              <a:solidFill>
                <a:schemeClr val="dk1"/>
              </a:solidFill>
              <a:sym typeface="Arial" panose="020B0604020202020204"/>
            </a:endParaRPr>
          </a:p>
          <a:p>
            <a:pPr marL="0" marR="0" lvl="0" indent="0" algn="l" rtl="0">
              <a:spcBef>
                <a:spcPts val="0"/>
              </a:spcBef>
              <a:spcAft>
                <a:spcPts val="0"/>
              </a:spcAft>
              <a:buNone/>
            </a:pPr>
            <a:endParaRPr lang="en-US" sz="2800" b="1">
              <a:solidFill>
                <a:schemeClr val="dk1"/>
              </a:solidFill>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sym typeface="Arial" panose="020B0604020202020204"/>
              </a:rPr>
              <a:t>Node A continuously reads ultrasonic + barometer values, packages them, and transmits via LoRa at fixed intervals (e.g., every 5–10 seconds)</a:t>
            </a:r>
            <a:endParaRPr lang="en-US" altLang="en-US" sz="2800" b="1">
              <a:solidFill>
                <a:schemeClr val="dk1"/>
              </a:solidFill>
              <a:sym typeface="Arial" panose="020B0604020202020204"/>
            </a:endParaRPr>
          </a:p>
          <a:p>
            <a:pPr marL="0" marR="0" lvl="0" indent="0" algn="l" rtl="0">
              <a:spcBef>
                <a:spcPts val="0"/>
              </a:spcBef>
              <a:spcAft>
                <a:spcPts val="0"/>
              </a:spcAft>
              <a:buFont typeface="Arial" panose="020B0604020202020204" pitchFamily="34" charset="0"/>
              <a:buNone/>
            </a:pPr>
            <a:endParaRPr lang="en-US" altLang="en-US" sz="2800" b="1">
              <a:solidFill>
                <a:schemeClr val="dk1"/>
              </a:solidFill>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sym typeface="Arial" panose="020B0604020202020204"/>
              </a:rPr>
              <a:t>Node B listens for incoming LoRa packets from A, combines them with its own rain/soil/vibration readings, and forwards the merged payload via LoRa to Node C</a:t>
            </a:r>
            <a:endParaRPr lang="en-US" altLang="en-US" sz="2800" b="1">
              <a:solidFill>
                <a:schemeClr val="dk1"/>
              </a:solidFill>
              <a:sym typeface="Arial" panose="020B0604020202020204"/>
            </a:endParaRPr>
          </a:p>
          <a:p>
            <a:pPr marL="0" marR="0" lvl="0" indent="0" algn="l" rtl="0">
              <a:spcBef>
                <a:spcPts val="0"/>
              </a:spcBef>
              <a:spcAft>
                <a:spcPts val="0"/>
              </a:spcAft>
              <a:buFont typeface="Arial" panose="020B0604020202020204" pitchFamily="34" charset="0"/>
              <a:buNone/>
            </a:pPr>
            <a:endParaRPr lang="en-US" altLang="en-US" sz="2800" b="1">
              <a:solidFill>
                <a:schemeClr val="dk1"/>
              </a:solidFill>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sym typeface="Arial" panose="020B0604020202020204"/>
              </a:rPr>
              <a:t>Node C receives all data, runs hardcoded threshold logic per sensor type (e.g., water level &gt; threshold + falling pressure → "high flood risk"; soil moisture + vibration + rain above thresholds → "landslide risk") to generate a disaster probability/status</a:t>
            </a:r>
            <a:endParaRPr lang="en-US" altLang="en-US" sz="2800" b="1">
              <a:solidFill>
                <a:schemeClr val="dk1"/>
              </a:solidFill>
              <a:sym typeface="Arial" panose="020B0604020202020204"/>
            </a:endParaRPr>
          </a:p>
          <a:p>
            <a:pPr marL="0" marR="0" lvl="0" indent="0" algn="l" rtl="0">
              <a:spcBef>
                <a:spcPts val="0"/>
              </a:spcBef>
              <a:spcAft>
                <a:spcPts val="0"/>
              </a:spcAft>
              <a:buFont typeface="Arial" panose="020B0604020202020204" pitchFamily="34" charset="0"/>
              <a:buNone/>
            </a:pPr>
            <a:endParaRPr lang="en-US" altLang="en-US" sz="2800" b="1">
              <a:solidFill>
                <a:schemeClr val="dk1"/>
              </a:solidFill>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sym typeface="Arial" panose="020B0604020202020204"/>
              </a:rPr>
              <a:t>Node C's ESP32 runs a local WebServer, rendering an HTML page showing each node's live readings and computed risk status — accessible by any device connected to Node C's WiFi, no internet required</a:t>
            </a:r>
            <a:endParaRPr lang="en-US" altLang="en-US" sz="2800" b="1">
              <a:solidFill>
                <a:schemeClr val="dk1"/>
              </a:solidFill>
              <a:sym typeface="Arial" panose="020B0604020202020204"/>
            </a:endParaRPr>
          </a:p>
          <a:p>
            <a:pPr marL="0" marR="0" lvl="0" indent="0" algn="l" rtl="0">
              <a:spcBef>
                <a:spcPts val="0"/>
              </a:spcBef>
              <a:spcAft>
                <a:spcPts val="0"/>
              </a:spcAft>
              <a:buFont typeface="Arial" panose="020B0604020202020204" pitchFamily="34" charset="0"/>
              <a:buNone/>
            </a:pPr>
            <a:endParaRPr lang="en-US" altLang="en-US" sz="2800" b="1">
              <a:solidFill>
                <a:schemeClr val="dk1"/>
              </a:solidFill>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sym typeface="Arial" panose="020B0604020202020204"/>
              </a:rPr>
              <a:t>All three nodes are self-contained, battery/solar-powerable, and physically deployable at the actual hazard zones</a:t>
            </a:r>
            <a:endParaRPr lang="en-US" altLang="en-US" sz="2800" b="1">
              <a:solidFill>
                <a:schemeClr val="dk1"/>
              </a:solidFill>
              <a:sym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grpSp>
        <p:nvGrpSpPr>
          <p:cNvPr id="149" name="Google Shape;149;p5"/>
          <p:cNvGrpSpPr/>
          <p:nvPr/>
        </p:nvGrpSpPr>
        <p:grpSpPr>
          <a:xfrm>
            <a:off x="3995767" y="-237591"/>
            <a:ext cx="10296467" cy="1734369"/>
            <a:chOff x="0" y="0"/>
            <a:chExt cx="13728622" cy="2312492"/>
          </a:xfrm>
        </p:grpSpPr>
        <p:sp>
          <p:nvSpPr>
            <p:cNvPr id="150" name="Google Shape;150;p5"/>
            <p:cNvSpPr/>
            <p:nvPr/>
          </p:nvSpPr>
          <p:spPr>
            <a:xfrm>
              <a:off x="11416130" y="0"/>
              <a:ext cx="2312492" cy="2312492"/>
            </a:xfrm>
            <a:custGeom>
              <a:avLst/>
              <a:gdLst/>
              <a:ahLst/>
              <a:cxnLst/>
              <a:rect l="l" t="t" r="r" b="b"/>
              <a:pathLst>
                <a:path w="2312492" h="2312492" extrusionOk="0">
                  <a:moveTo>
                    <a:pt x="0" y="0"/>
                  </a:moveTo>
                  <a:lnTo>
                    <a:pt x="2312492" y="0"/>
                  </a:lnTo>
                  <a:lnTo>
                    <a:pt x="2312492" y="2312492"/>
                  </a:lnTo>
                  <a:lnTo>
                    <a:pt x="0" y="2312492"/>
                  </a:lnTo>
                  <a:lnTo>
                    <a:pt x="0" y="0"/>
                  </a:lnTo>
                  <a:close/>
                </a:path>
              </a:pathLst>
            </a:custGeom>
            <a:blipFill rotWithShape="1">
              <a:blip r:embed="rId1"/>
              <a:stretch>
                <a:fillRect/>
              </a:stretch>
            </a:blipFill>
            <a:ln>
              <a:noFill/>
            </a:ln>
          </p:spPr>
        </p:sp>
        <p:sp>
          <p:nvSpPr>
            <p:cNvPr id="151" name="Google Shape;151;p5"/>
            <p:cNvSpPr/>
            <p:nvPr/>
          </p:nvSpPr>
          <p:spPr>
            <a:xfrm>
              <a:off x="9371173" y="547849"/>
              <a:ext cx="1754643" cy="1414221"/>
            </a:xfrm>
            <a:custGeom>
              <a:avLst/>
              <a:gdLst/>
              <a:ahLst/>
              <a:cxnLst/>
              <a:rect l="l" t="t" r="r" b="b"/>
              <a:pathLst>
                <a:path w="1754643" h="1414221" extrusionOk="0">
                  <a:moveTo>
                    <a:pt x="0" y="0"/>
                  </a:moveTo>
                  <a:lnTo>
                    <a:pt x="1754643" y="0"/>
                  </a:lnTo>
                  <a:lnTo>
                    <a:pt x="1754643" y="1414221"/>
                  </a:lnTo>
                  <a:lnTo>
                    <a:pt x="0" y="1414221"/>
                  </a:lnTo>
                  <a:lnTo>
                    <a:pt x="0" y="0"/>
                  </a:lnTo>
                  <a:close/>
                </a:path>
              </a:pathLst>
            </a:custGeom>
            <a:blipFill rotWithShape="1">
              <a:blip r:embed="rId2"/>
              <a:stretch>
                <a:fillRect/>
              </a:stretch>
            </a:blipFill>
            <a:ln>
              <a:noFill/>
            </a:ln>
          </p:spPr>
        </p:sp>
        <p:sp>
          <p:nvSpPr>
            <p:cNvPr id="152" name="Google Shape;152;p5"/>
            <p:cNvSpPr/>
            <p:nvPr/>
          </p:nvSpPr>
          <p:spPr>
            <a:xfrm>
              <a:off x="0" y="604703"/>
              <a:ext cx="3006153" cy="1300514"/>
            </a:xfrm>
            <a:custGeom>
              <a:avLst/>
              <a:gdLst/>
              <a:ahLst/>
              <a:cxnLst/>
              <a:rect l="l" t="t" r="r" b="b"/>
              <a:pathLst>
                <a:path w="3006153" h="1300514" extrusionOk="0">
                  <a:moveTo>
                    <a:pt x="0" y="0"/>
                  </a:moveTo>
                  <a:lnTo>
                    <a:pt x="3006153" y="0"/>
                  </a:lnTo>
                  <a:lnTo>
                    <a:pt x="3006153" y="1300513"/>
                  </a:lnTo>
                  <a:lnTo>
                    <a:pt x="0" y="1300513"/>
                  </a:lnTo>
                  <a:lnTo>
                    <a:pt x="0" y="0"/>
                  </a:lnTo>
                  <a:close/>
                </a:path>
              </a:pathLst>
            </a:custGeom>
            <a:blipFill rotWithShape="1">
              <a:blip r:embed="rId3"/>
              <a:stretch>
                <a:fillRect/>
              </a:stretch>
            </a:blipFill>
            <a:ln>
              <a:noFill/>
            </a:ln>
          </p:spPr>
        </p:sp>
        <p:sp>
          <p:nvSpPr>
            <p:cNvPr id="153" name="Google Shape;153;p5"/>
            <p:cNvSpPr/>
            <p:nvPr/>
          </p:nvSpPr>
          <p:spPr>
            <a:xfrm>
              <a:off x="3823451" y="643512"/>
              <a:ext cx="4906265" cy="1318559"/>
            </a:xfrm>
            <a:custGeom>
              <a:avLst/>
              <a:gdLst/>
              <a:ahLst/>
              <a:cxnLst/>
              <a:rect l="l" t="t" r="r" b="b"/>
              <a:pathLst>
                <a:path w="4906265" h="1318559" extrusionOk="0">
                  <a:moveTo>
                    <a:pt x="0" y="0"/>
                  </a:moveTo>
                  <a:lnTo>
                    <a:pt x="4906265" y="0"/>
                  </a:lnTo>
                  <a:lnTo>
                    <a:pt x="4906265" y="1318558"/>
                  </a:lnTo>
                  <a:lnTo>
                    <a:pt x="0" y="1318558"/>
                  </a:lnTo>
                  <a:lnTo>
                    <a:pt x="0" y="0"/>
                  </a:lnTo>
                  <a:close/>
                </a:path>
              </a:pathLst>
            </a:custGeom>
            <a:blipFill rotWithShape="1">
              <a:blip r:embed="rId4"/>
              <a:stretch>
                <a:fillRect/>
              </a:stretch>
            </a:blipFill>
            <a:ln>
              <a:noFill/>
            </a:ln>
          </p:spPr>
        </p:sp>
      </p:grpSp>
      <p:sp>
        <p:nvSpPr>
          <p:cNvPr id="154" name="Google Shape;154;p5"/>
          <p:cNvSpPr/>
          <p:nvPr/>
        </p:nvSpPr>
        <p:spPr>
          <a:xfrm>
            <a:off x="-32901" y="1051100"/>
            <a:ext cx="18323704" cy="8777017"/>
          </a:xfrm>
          <a:custGeom>
            <a:avLst/>
            <a:gdLst/>
            <a:ahLst/>
            <a:cxnLst/>
            <a:rect l="l" t="t" r="r" b="b"/>
            <a:pathLst>
              <a:path w="18323704" h="8777017" extrusionOk="0">
                <a:moveTo>
                  <a:pt x="0" y="0"/>
                </a:moveTo>
                <a:lnTo>
                  <a:pt x="18323704" y="0"/>
                </a:lnTo>
                <a:lnTo>
                  <a:pt x="18323704" y="8777017"/>
                </a:lnTo>
                <a:lnTo>
                  <a:pt x="0" y="8777017"/>
                </a:lnTo>
                <a:lnTo>
                  <a:pt x="0" y="0"/>
                </a:lnTo>
                <a:close/>
              </a:path>
            </a:pathLst>
          </a:custGeom>
          <a:blipFill rotWithShape="1">
            <a:blip r:embed="rId5">
              <a:alphaModFix amt="32999"/>
            </a:blip>
            <a:stretch>
              <a:fillRect l="-2658" b="-40752"/>
            </a:stretch>
          </a:blipFill>
          <a:ln>
            <a:noFill/>
          </a:ln>
        </p:spPr>
      </p:sp>
      <p:sp>
        <p:nvSpPr>
          <p:cNvPr id="155" name="Google Shape;155;p5"/>
          <p:cNvSpPr/>
          <p:nvPr/>
        </p:nvSpPr>
        <p:spPr>
          <a:xfrm>
            <a:off x="3511563" y="9826112"/>
            <a:ext cx="11344944" cy="460888"/>
          </a:xfrm>
          <a:custGeom>
            <a:avLst/>
            <a:gdLst/>
            <a:ahLst/>
            <a:cxnLst/>
            <a:rect l="l" t="t" r="r" b="b"/>
            <a:pathLst>
              <a:path w="11344944" h="460888" extrusionOk="0">
                <a:moveTo>
                  <a:pt x="0" y="0"/>
                </a:moveTo>
                <a:lnTo>
                  <a:pt x="11344944" y="0"/>
                </a:lnTo>
                <a:lnTo>
                  <a:pt x="11344944" y="460888"/>
                </a:lnTo>
                <a:lnTo>
                  <a:pt x="0" y="460888"/>
                </a:lnTo>
                <a:lnTo>
                  <a:pt x="0" y="0"/>
                </a:lnTo>
                <a:close/>
              </a:path>
            </a:pathLst>
          </a:custGeom>
          <a:blipFill rotWithShape="1">
            <a:blip r:embed="rId6"/>
            <a:stretch>
              <a:fillRect/>
            </a:stretch>
          </a:blipFill>
          <a:ln>
            <a:noFill/>
          </a:ln>
        </p:spPr>
      </p:sp>
      <p:sp>
        <p:nvSpPr>
          <p:cNvPr id="156" name="Google Shape;156;p5"/>
          <p:cNvSpPr txBox="1"/>
          <p:nvPr/>
        </p:nvSpPr>
        <p:spPr>
          <a:xfrm>
            <a:off x="888365" y="4475480"/>
            <a:ext cx="13721715" cy="48298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dk1"/>
                </a:solidFill>
                <a:latin typeface="Arial" panose="020B0604020202020204"/>
                <a:ea typeface="Arial" panose="020B0604020202020204"/>
                <a:cs typeface="Arial" panose="020B0604020202020204"/>
                <a:sym typeface="Arial" panose="020B0604020202020204"/>
              </a:rPr>
              <a:t>KEY FEATURES:</a:t>
            </a:r>
            <a:endParaRPr lang="en-US" sz="2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Real-time sensor data display, separated by node and hazard type</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Font typeface="Arial" panose="020B0604020202020204" pitchFamily="34" charset="0"/>
              <a:buNone/>
            </a:pP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Hardcoded disaster-risk logic showing live status (e.g., "Normal" / "Warning" / "High risk")</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Font typeface="Arial" panose="020B0604020202020204" pitchFamily="34" charset="0"/>
              <a:buNone/>
            </a:pP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Fully offline operation — dashboard accessible over local WiFi, no internet required</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Font typeface="Arial" panose="020B0604020202020204" pitchFamily="34" charset="0"/>
              <a:buNone/>
            </a:pP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Multi-hop LoRa relay demonstrated live (Node A → Node B → Node C)</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p:txBody>
      </p:sp>
      <p:sp>
        <p:nvSpPr>
          <p:cNvPr id="157" name="Google Shape;157;p5"/>
          <p:cNvSpPr txBox="1"/>
          <p:nvPr/>
        </p:nvSpPr>
        <p:spPr>
          <a:xfrm>
            <a:off x="4165933" y="1507209"/>
            <a:ext cx="9685421"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a:solidFill>
                  <a:srgbClr val="2E3192"/>
                </a:solidFill>
                <a:latin typeface="Calibri" panose="020F0502020204030204"/>
                <a:ea typeface="Calibri" panose="020F0502020204030204"/>
                <a:cs typeface="Calibri" panose="020F0502020204030204"/>
                <a:sym typeface="Calibri" panose="020F0502020204030204"/>
              </a:rPr>
              <a:t>INNOHACK 2.0</a:t>
            </a:r>
            <a:endParaRPr sz="1800">
              <a:solidFill>
                <a:srgbClr val="2E3192"/>
              </a:solidFill>
              <a:latin typeface="Calibri" panose="020F0502020204030204"/>
              <a:ea typeface="Calibri" panose="020F0502020204030204"/>
              <a:cs typeface="Calibri" panose="020F0502020204030204"/>
              <a:sym typeface="Calibri" panose="020F0502020204030204"/>
            </a:endParaRPr>
          </a:p>
        </p:txBody>
      </p:sp>
      <p:sp>
        <p:nvSpPr>
          <p:cNvPr id="158" name="Google Shape;158;p5"/>
          <p:cNvSpPr txBox="1"/>
          <p:nvPr/>
        </p:nvSpPr>
        <p:spPr>
          <a:xfrm>
            <a:off x="886241" y="3224199"/>
            <a:ext cx="8993605" cy="9518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dk1"/>
                </a:solidFill>
                <a:latin typeface="Arial" panose="020B0604020202020204"/>
                <a:ea typeface="Arial" panose="020B0604020202020204"/>
                <a:cs typeface="Arial" panose="020B0604020202020204"/>
                <a:sym typeface="Arial" panose="020B0604020202020204"/>
              </a:rPr>
              <a:t>WORKING PROTOTYPE </a:t>
            </a:r>
            <a:endParaRPr lang="en-US" sz="2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2800" b="1">
                <a:solidFill>
                  <a:schemeClr val="dk1"/>
                </a:solidFill>
                <a:latin typeface="Arial" panose="020B0604020202020204"/>
                <a:ea typeface="Arial" panose="020B0604020202020204"/>
                <a:cs typeface="Arial" panose="020B0604020202020204"/>
                <a:sym typeface="Arial" panose="020B0604020202020204"/>
              </a:rPr>
              <a:t>  NIL</a:t>
            </a:r>
            <a:endParaRPr lang="en-US"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0" name="Google Shape;160;p5"/>
          <p:cNvSpPr txBox="1"/>
          <p:nvPr/>
        </p:nvSpPr>
        <p:spPr>
          <a:xfrm>
            <a:off x="888415" y="2216419"/>
            <a:ext cx="9685421"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2E3192"/>
                </a:solidFill>
                <a:latin typeface="Calibri" panose="020F0502020204030204"/>
                <a:ea typeface="Calibri" panose="020F0502020204030204"/>
                <a:cs typeface="Calibri" panose="020F0502020204030204"/>
                <a:sym typeface="Calibri" panose="020F0502020204030204"/>
              </a:rPr>
              <a:t>DEMO / PROTOTYPE</a:t>
            </a:r>
            <a:endParaRPr sz="4000" b="1">
              <a:solidFill>
                <a:srgbClr val="2E3192"/>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grpSp>
        <p:nvGrpSpPr>
          <p:cNvPr id="165" name="Google Shape;165;p6"/>
          <p:cNvGrpSpPr/>
          <p:nvPr/>
        </p:nvGrpSpPr>
        <p:grpSpPr>
          <a:xfrm>
            <a:off x="3995767" y="-237591"/>
            <a:ext cx="10296467" cy="1734369"/>
            <a:chOff x="0" y="0"/>
            <a:chExt cx="13728622" cy="2312492"/>
          </a:xfrm>
        </p:grpSpPr>
        <p:sp>
          <p:nvSpPr>
            <p:cNvPr id="166" name="Google Shape;166;p6"/>
            <p:cNvSpPr/>
            <p:nvPr/>
          </p:nvSpPr>
          <p:spPr>
            <a:xfrm>
              <a:off x="11416130" y="0"/>
              <a:ext cx="2312492" cy="2312492"/>
            </a:xfrm>
            <a:custGeom>
              <a:avLst/>
              <a:gdLst/>
              <a:ahLst/>
              <a:cxnLst/>
              <a:rect l="l" t="t" r="r" b="b"/>
              <a:pathLst>
                <a:path w="2312492" h="2312492" extrusionOk="0">
                  <a:moveTo>
                    <a:pt x="0" y="0"/>
                  </a:moveTo>
                  <a:lnTo>
                    <a:pt x="2312492" y="0"/>
                  </a:lnTo>
                  <a:lnTo>
                    <a:pt x="2312492" y="2312492"/>
                  </a:lnTo>
                  <a:lnTo>
                    <a:pt x="0" y="2312492"/>
                  </a:lnTo>
                  <a:lnTo>
                    <a:pt x="0" y="0"/>
                  </a:lnTo>
                  <a:close/>
                </a:path>
              </a:pathLst>
            </a:custGeom>
            <a:blipFill rotWithShape="1">
              <a:blip r:embed="rId1"/>
              <a:stretch>
                <a:fillRect/>
              </a:stretch>
            </a:blipFill>
            <a:ln>
              <a:noFill/>
            </a:ln>
          </p:spPr>
        </p:sp>
        <p:sp>
          <p:nvSpPr>
            <p:cNvPr id="167" name="Google Shape;167;p6"/>
            <p:cNvSpPr/>
            <p:nvPr/>
          </p:nvSpPr>
          <p:spPr>
            <a:xfrm>
              <a:off x="9371173" y="547849"/>
              <a:ext cx="1754643" cy="1414221"/>
            </a:xfrm>
            <a:custGeom>
              <a:avLst/>
              <a:gdLst/>
              <a:ahLst/>
              <a:cxnLst/>
              <a:rect l="l" t="t" r="r" b="b"/>
              <a:pathLst>
                <a:path w="1754643" h="1414221" extrusionOk="0">
                  <a:moveTo>
                    <a:pt x="0" y="0"/>
                  </a:moveTo>
                  <a:lnTo>
                    <a:pt x="1754643" y="0"/>
                  </a:lnTo>
                  <a:lnTo>
                    <a:pt x="1754643" y="1414221"/>
                  </a:lnTo>
                  <a:lnTo>
                    <a:pt x="0" y="1414221"/>
                  </a:lnTo>
                  <a:lnTo>
                    <a:pt x="0" y="0"/>
                  </a:lnTo>
                  <a:close/>
                </a:path>
              </a:pathLst>
            </a:custGeom>
            <a:blipFill rotWithShape="1">
              <a:blip r:embed="rId2"/>
              <a:stretch>
                <a:fillRect/>
              </a:stretch>
            </a:blipFill>
            <a:ln>
              <a:noFill/>
            </a:ln>
          </p:spPr>
        </p:sp>
        <p:sp>
          <p:nvSpPr>
            <p:cNvPr id="168" name="Google Shape;168;p6"/>
            <p:cNvSpPr/>
            <p:nvPr/>
          </p:nvSpPr>
          <p:spPr>
            <a:xfrm>
              <a:off x="0" y="604703"/>
              <a:ext cx="3006153" cy="1300514"/>
            </a:xfrm>
            <a:custGeom>
              <a:avLst/>
              <a:gdLst/>
              <a:ahLst/>
              <a:cxnLst/>
              <a:rect l="l" t="t" r="r" b="b"/>
              <a:pathLst>
                <a:path w="3006153" h="1300514" extrusionOk="0">
                  <a:moveTo>
                    <a:pt x="0" y="0"/>
                  </a:moveTo>
                  <a:lnTo>
                    <a:pt x="3006153" y="0"/>
                  </a:lnTo>
                  <a:lnTo>
                    <a:pt x="3006153" y="1300513"/>
                  </a:lnTo>
                  <a:lnTo>
                    <a:pt x="0" y="1300513"/>
                  </a:lnTo>
                  <a:lnTo>
                    <a:pt x="0" y="0"/>
                  </a:lnTo>
                  <a:close/>
                </a:path>
              </a:pathLst>
            </a:custGeom>
            <a:blipFill rotWithShape="1">
              <a:blip r:embed="rId3"/>
              <a:stretch>
                <a:fillRect/>
              </a:stretch>
            </a:blipFill>
            <a:ln>
              <a:noFill/>
            </a:ln>
          </p:spPr>
        </p:sp>
        <p:sp>
          <p:nvSpPr>
            <p:cNvPr id="169" name="Google Shape;169;p6"/>
            <p:cNvSpPr/>
            <p:nvPr/>
          </p:nvSpPr>
          <p:spPr>
            <a:xfrm>
              <a:off x="3823451" y="643512"/>
              <a:ext cx="4906265" cy="1318559"/>
            </a:xfrm>
            <a:custGeom>
              <a:avLst/>
              <a:gdLst/>
              <a:ahLst/>
              <a:cxnLst/>
              <a:rect l="l" t="t" r="r" b="b"/>
              <a:pathLst>
                <a:path w="4906265" h="1318559" extrusionOk="0">
                  <a:moveTo>
                    <a:pt x="0" y="0"/>
                  </a:moveTo>
                  <a:lnTo>
                    <a:pt x="4906265" y="0"/>
                  </a:lnTo>
                  <a:lnTo>
                    <a:pt x="4906265" y="1318558"/>
                  </a:lnTo>
                  <a:lnTo>
                    <a:pt x="0" y="1318558"/>
                  </a:lnTo>
                  <a:lnTo>
                    <a:pt x="0" y="0"/>
                  </a:lnTo>
                  <a:close/>
                </a:path>
              </a:pathLst>
            </a:custGeom>
            <a:blipFill rotWithShape="1">
              <a:blip r:embed="rId4"/>
              <a:stretch>
                <a:fillRect/>
              </a:stretch>
            </a:blipFill>
            <a:ln>
              <a:noFill/>
            </a:ln>
          </p:spPr>
        </p:sp>
      </p:grpSp>
      <p:sp>
        <p:nvSpPr>
          <p:cNvPr id="170" name="Google Shape;170;p6"/>
          <p:cNvSpPr/>
          <p:nvPr/>
        </p:nvSpPr>
        <p:spPr>
          <a:xfrm>
            <a:off x="-32901" y="1051100"/>
            <a:ext cx="18323704" cy="8777017"/>
          </a:xfrm>
          <a:custGeom>
            <a:avLst/>
            <a:gdLst/>
            <a:ahLst/>
            <a:cxnLst/>
            <a:rect l="l" t="t" r="r" b="b"/>
            <a:pathLst>
              <a:path w="18323704" h="8777017" extrusionOk="0">
                <a:moveTo>
                  <a:pt x="0" y="0"/>
                </a:moveTo>
                <a:lnTo>
                  <a:pt x="18323704" y="0"/>
                </a:lnTo>
                <a:lnTo>
                  <a:pt x="18323704" y="8777017"/>
                </a:lnTo>
                <a:lnTo>
                  <a:pt x="0" y="8777017"/>
                </a:lnTo>
                <a:lnTo>
                  <a:pt x="0" y="0"/>
                </a:lnTo>
                <a:close/>
              </a:path>
            </a:pathLst>
          </a:custGeom>
          <a:blipFill rotWithShape="1">
            <a:blip r:embed="rId5">
              <a:alphaModFix amt="32999"/>
            </a:blip>
            <a:stretch>
              <a:fillRect l="-2658" b="-40752"/>
            </a:stretch>
          </a:blipFill>
          <a:ln>
            <a:noFill/>
          </a:ln>
        </p:spPr>
      </p:sp>
      <p:sp>
        <p:nvSpPr>
          <p:cNvPr id="171" name="Google Shape;171;p6"/>
          <p:cNvSpPr/>
          <p:nvPr/>
        </p:nvSpPr>
        <p:spPr>
          <a:xfrm>
            <a:off x="3511563" y="9826112"/>
            <a:ext cx="11344944" cy="460888"/>
          </a:xfrm>
          <a:custGeom>
            <a:avLst/>
            <a:gdLst/>
            <a:ahLst/>
            <a:cxnLst/>
            <a:rect l="l" t="t" r="r" b="b"/>
            <a:pathLst>
              <a:path w="11344944" h="460888" extrusionOk="0">
                <a:moveTo>
                  <a:pt x="0" y="0"/>
                </a:moveTo>
                <a:lnTo>
                  <a:pt x="11344944" y="0"/>
                </a:lnTo>
                <a:lnTo>
                  <a:pt x="11344944" y="460888"/>
                </a:lnTo>
                <a:lnTo>
                  <a:pt x="0" y="460888"/>
                </a:lnTo>
                <a:lnTo>
                  <a:pt x="0" y="0"/>
                </a:lnTo>
                <a:close/>
              </a:path>
            </a:pathLst>
          </a:custGeom>
          <a:blipFill rotWithShape="1">
            <a:blip r:embed="rId6"/>
            <a:stretch>
              <a:fillRect/>
            </a:stretch>
          </a:blipFill>
          <a:ln>
            <a:noFill/>
          </a:ln>
        </p:spPr>
      </p:sp>
      <p:sp>
        <p:nvSpPr>
          <p:cNvPr id="173" name="Google Shape;173;p6"/>
          <p:cNvSpPr txBox="1"/>
          <p:nvPr/>
        </p:nvSpPr>
        <p:spPr>
          <a:xfrm>
            <a:off x="4165933" y="1507209"/>
            <a:ext cx="9685421"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a:solidFill>
                  <a:srgbClr val="2E3192"/>
                </a:solidFill>
                <a:latin typeface="Calibri" panose="020F0502020204030204"/>
                <a:ea typeface="Calibri" panose="020F0502020204030204"/>
                <a:cs typeface="Calibri" panose="020F0502020204030204"/>
                <a:sym typeface="Calibri" panose="020F0502020204030204"/>
              </a:rPr>
              <a:t>INNOHACK 2.0</a:t>
            </a:r>
            <a:endParaRPr sz="1800">
              <a:solidFill>
                <a:srgbClr val="2E3192"/>
              </a:solidFill>
              <a:latin typeface="Calibri" panose="020F0502020204030204"/>
              <a:ea typeface="Calibri" panose="020F0502020204030204"/>
              <a:cs typeface="Calibri" panose="020F0502020204030204"/>
              <a:sym typeface="Calibri" panose="020F0502020204030204"/>
            </a:endParaRPr>
          </a:p>
        </p:txBody>
      </p:sp>
      <p:sp>
        <p:nvSpPr>
          <p:cNvPr id="174" name="Google Shape;174;p6"/>
          <p:cNvSpPr txBox="1"/>
          <p:nvPr/>
        </p:nvSpPr>
        <p:spPr>
          <a:xfrm>
            <a:off x="886460" y="2755265"/>
            <a:ext cx="15932785" cy="22440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dk1"/>
                </a:solidFill>
                <a:latin typeface="Arial" panose="020B0604020202020204"/>
                <a:ea typeface="Arial" panose="020B0604020202020204"/>
                <a:cs typeface="Arial" panose="020B0604020202020204"/>
                <a:sym typeface="Arial" panose="020B0604020202020204"/>
              </a:rPr>
              <a:t>WHO BENEFITS FROM YOUR SOLUTION?</a:t>
            </a:r>
            <a:endParaRPr 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Rural and hilly village communities living in flood-prone riverside areas and landslide-prone hill regions</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Disaster rescue departments and local administration, who get earlier, location-tagged alerts to plan faster response</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p:txBody>
      </p:sp>
      <p:sp>
        <p:nvSpPr>
          <p:cNvPr id="175" name="Google Shape;175;p6"/>
          <p:cNvSpPr txBox="1"/>
          <p:nvPr/>
        </p:nvSpPr>
        <p:spPr>
          <a:xfrm>
            <a:off x="1022985" y="5213350"/>
            <a:ext cx="16321405" cy="43986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dk1"/>
                </a:solidFill>
                <a:latin typeface="Arial" panose="020B0604020202020204"/>
                <a:ea typeface="Arial" panose="020B0604020202020204"/>
                <a:cs typeface="Arial" panose="020B0604020202020204"/>
                <a:sym typeface="Arial" panose="020B0604020202020204"/>
              </a:rPr>
              <a:t>HOW CAN IT BE APPLIED IN REAL WORLD SCENARIOS?</a:t>
            </a:r>
            <a:endParaRPr 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Riverside villages: early flood warning before water levels become critical, giving communities time to evacuate</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Hilly/mountain regions: landslide risk detection using rainfall + soil saturation + ground vibration, ahead of visible ground failure</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Areas with poor/no telecom infrastructure: functions entirely offline, unlike SMS/app-based alert systems that need cellular network</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During active disasters: when cellular towers go down (a common failure mode in floods/landslides), this system keeps functioning since it doesn't depend on that infrastructure at all</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p:txBody>
      </p:sp>
      <p:sp>
        <p:nvSpPr>
          <p:cNvPr id="176" name="Google Shape;176;p6"/>
          <p:cNvSpPr txBox="1"/>
          <p:nvPr/>
        </p:nvSpPr>
        <p:spPr>
          <a:xfrm>
            <a:off x="888415" y="2047509"/>
            <a:ext cx="9685421"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2E3192"/>
                </a:solidFill>
                <a:latin typeface="Calibri" panose="020F0502020204030204"/>
                <a:ea typeface="Calibri" panose="020F0502020204030204"/>
                <a:cs typeface="Calibri" panose="020F0502020204030204"/>
                <a:sym typeface="Calibri" panose="020F0502020204030204"/>
              </a:rPr>
              <a:t>IMPACT &amp; USE CASES</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2" name="Google Shape;172;p6"/>
          <p:cNvSpPr txBox="1"/>
          <p:nvPr/>
        </p:nvSpPr>
        <p:spPr>
          <a:xfrm>
            <a:off x="888365" y="854075"/>
            <a:ext cx="14025880" cy="466979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a:solidFill>
                  <a:schemeClr val="dk1"/>
                </a:solidFill>
                <a:latin typeface="Arial" panose="020B0604020202020204"/>
                <a:ea typeface="Arial" panose="020B0604020202020204"/>
                <a:cs typeface="Arial" panose="020B0604020202020204"/>
                <a:sym typeface="Arial" panose="020B0604020202020204"/>
              </a:rPr>
              <a:t>SCALING / SUSTAINABILITY</a:t>
            </a:r>
            <a:endParaRPr lang="en-US" sz="2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Mesh design scales horizontally — more nodes can be added to extend coverage across an entire village or valley without redesigning the system, each new node just needs to be in LoRa range of at least one existing node</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Font typeface="Arial" panose="020B0604020202020204" pitchFamily="34" charset="0"/>
              <a:buNone/>
            </a:pP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Low-cost hardware (ESP32 + LoRa + basic sensors) keeps per-node cost low enough for wide deployment in resource-constrained rural regions</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Font typeface="Arial" panose="020B0604020202020204" pitchFamily="34" charset="0"/>
              <a:buNone/>
            </a:pP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Government/NDMA partnership potential — could integrate with existing disaster management frameworks as a low-cost last-mile sensing layer</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grpSp>
        <p:nvGrpSpPr>
          <p:cNvPr id="181" name="Google Shape;181;p7"/>
          <p:cNvGrpSpPr/>
          <p:nvPr/>
        </p:nvGrpSpPr>
        <p:grpSpPr>
          <a:xfrm>
            <a:off x="3995767" y="-237591"/>
            <a:ext cx="10296467" cy="1734369"/>
            <a:chOff x="0" y="0"/>
            <a:chExt cx="13728622" cy="2312492"/>
          </a:xfrm>
        </p:grpSpPr>
        <p:sp>
          <p:nvSpPr>
            <p:cNvPr id="182" name="Google Shape;182;p7"/>
            <p:cNvSpPr/>
            <p:nvPr/>
          </p:nvSpPr>
          <p:spPr>
            <a:xfrm>
              <a:off x="11416130" y="0"/>
              <a:ext cx="2312492" cy="2312492"/>
            </a:xfrm>
            <a:custGeom>
              <a:avLst/>
              <a:gdLst/>
              <a:ahLst/>
              <a:cxnLst/>
              <a:rect l="l" t="t" r="r" b="b"/>
              <a:pathLst>
                <a:path w="2312492" h="2312492" extrusionOk="0">
                  <a:moveTo>
                    <a:pt x="0" y="0"/>
                  </a:moveTo>
                  <a:lnTo>
                    <a:pt x="2312492" y="0"/>
                  </a:lnTo>
                  <a:lnTo>
                    <a:pt x="2312492" y="2312492"/>
                  </a:lnTo>
                  <a:lnTo>
                    <a:pt x="0" y="2312492"/>
                  </a:lnTo>
                  <a:lnTo>
                    <a:pt x="0" y="0"/>
                  </a:lnTo>
                  <a:close/>
                </a:path>
              </a:pathLst>
            </a:custGeom>
            <a:blipFill rotWithShape="1">
              <a:blip r:embed="rId1"/>
              <a:stretch>
                <a:fillRect/>
              </a:stretch>
            </a:blipFill>
            <a:ln>
              <a:noFill/>
            </a:ln>
          </p:spPr>
        </p:sp>
        <p:sp>
          <p:nvSpPr>
            <p:cNvPr id="183" name="Google Shape;183;p7"/>
            <p:cNvSpPr/>
            <p:nvPr/>
          </p:nvSpPr>
          <p:spPr>
            <a:xfrm>
              <a:off x="9371173" y="547849"/>
              <a:ext cx="1754643" cy="1414221"/>
            </a:xfrm>
            <a:custGeom>
              <a:avLst/>
              <a:gdLst/>
              <a:ahLst/>
              <a:cxnLst/>
              <a:rect l="l" t="t" r="r" b="b"/>
              <a:pathLst>
                <a:path w="1754643" h="1414221" extrusionOk="0">
                  <a:moveTo>
                    <a:pt x="0" y="0"/>
                  </a:moveTo>
                  <a:lnTo>
                    <a:pt x="1754643" y="0"/>
                  </a:lnTo>
                  <a:lnTo>
                    <a:pt x="1754643" y="1414221"/>
                  </a:lnTo>
                  <a:lnTo>
                    <a:pt x="0" y="1414221"/>
                  </a:lnTo>
                  <a:lnTo>
                    <a:pt x="0" y="0"/>
                  </a:lnTo>
                  <a:close/>
                </a:path>
              </a:pathLst>
            </a:custGeom>
            <a:blipFill rotWithShape="1">
              <a:blip r:embed="rId2"/>
              <a:stretch>
                <a:fillRect/>
              </a:stretch>
            </a:blipFill>
            <a:ln>
              <a:noFill/>
            </a:ln>
          </p:spPr>
        </p:sp>
        <p:sp>
          <p:nvSpPr>
            <p:cNvPr id="184" name="Google Shape;184;p7"/>
            <p:cNvSpPr/>
            <p:nvPr/>
          </p:nvSpPr>
          <p:spPr>
            <a:xfrm>
              <a:off x="0" y="604703"/>
              <a:ext cx="3006153" cy="1300514"/>
            </a:xfrm>
            <a:custGeom>
              <a:avLst/>
              <a:gdLst/>
              <a:ahLst/>
              <a:cxnLst/>
              <a:rect l="l" t="t" r="r" b="b"/>
              <a:pathLst>
                <a:path w="3006153" h="1300514" extrusionOk="0">
                  <a:moveTo>
                    <a:pt x="0" y="0"/>
                  </a:moveTo>
                  <a:lnTo>
                    <a:pt x="3006153" y="0"/>
                  </a:lnTo>
                  <a:lnTo>
                    <a:pt x="3006153" y="1300513"/>
                  </a:lnTo>
                  <a:lnTo>
                    <a:pt x="0" y="1300513"/>
                  </a:lnTo>
                  <a:lnTo>
                    <a:pt x="0" y="0"/>
                  </a:lnTo>
                  <a:close/>
                </a:path>
              </a:pathLst>
            </a:custGeom>
            <a:blipFill rotWithShape="1">
              <a:blip r:embed="rId3"/>
              <a:stretch>
                <a:fillRect/>
              </a:stretch>
            </a:blipFill>
            <a:ln>
              <a:noFill/>
            </a:ln>
          </p:spPr>
        </p:sp>
        <p:sp>
          <p:nvSpPr>
            <p:cNvPr id="185" name="Google Shape;185;p7"/>
            <p:cNvSpPr/>
            <p:nvPr/>
          </p:nvSpPr>
          <p:spPr>
            <a:xfrm>
              <a:off x="3823451" y="643512"/>
              <a:ext cx="4906265" cy="1318559"/>
            </a:xfrm>
            <a:custGeom>
              <a:avLst/>
              <a:gdLst/>
              <a:ahLst/>
              <a:cxnLst/>
              <a:rect l="l" t="t" r="r" b="b"/>
              <a:pathLst>
                <a:path w="4906265" h="1318559" extrusionOk="0">
                  <a:moveTo>
                    <a:pt x="0" y="0"/>
                  </a:moveTo>
                  <a:lnTo>
                    <a:pt x="4906265" y="0"/>
                  </a:lnTo>
                  <a:lnTo>
                    <a:pt x="4906265" y="1318558"/>
                  </a:lnTo>
                  <a:lnTo>
                    <a:pt x="0" y="1318558"/>
                  </a:lnTo>
                  <a:lnTo>
                    <a:pt x="0" y="0"/>
                  </a:lnTo>
                  <a:close/>
                </a:path>
              </a:pathLst>
            </a:custGeom>
            <a:blipFill rotWithShape="1">
              <a:blip r:embed="rId4"/>
              <a:stretch>
                <a:fillRect/>
              </a:stretch>
            </a:blipFill>
            <a:ln>
              <a:noFill/>
            </a:ln>
          </p:spPr>
        </p:sp>
      </p:grpSp>
      <p:sp>
        <p:nvSpPr>
          <p:cNvPr id="186" name="Google Shape;186;p7"/>
          <p:cNvSpPr/>
          <p:nvPr/>
        </p:nvSpPr>
        <p:spPr>
          <a:xfrm>
            <a:off x="-32901" y="1051100"/>
            <a:ext cx="18323704" cy="8777017"/>
          </a:xfrm>
          <a:custGeom>
            <a:avLst/>
            <a:gdLst/>
            <a:ahLst/>
            <a:cxnLst/>
            <a:rect l="l" t="t" r="r" b="b"/>
            <a:pathLst>
              <a:path w="18323704" h="8777017" extrusionOk="0">
                <a:moveTo>
                  <a:pt x="0" y="0"/>
                </a:moveTo>
                <a:lnTo>
                  <a:pt x="18323704" y="0"/>
                </a:lnTo>
                <a:lnTo>
                  <a:pt x="18323704" y="8777017"/>
                </a:lnTo>
                <a:lnTo>
                  <a:pt x="0" y="8777017"/>
                </a:lnTo>
                <a:lnTo>
                  <a:pt x="0" y="0"/>
                </a:lnTo>
                <a:close/>
              </a:path>
            </a:pathLst>
          </a:custGeom>
          <a:blipFill rotWithShape="1">
            <a:blip r:embed="rId5">
              <a:alphaModFix amt="32999"/>
            </a:blip>
            <a:stretch>
              <a:fillRect l="-2658" b="-40752"/>
            </a:stretch>
          </a:blipFill>
          <a:ln>
            <a:noFill/>
          </a:ln>
        </p:spPr>
      </p:sp>
      <p:sp>
        <p:nvSpPr>
          <p:cNvPr id="187" name="Google Shape;187;p7"/>
          <p:cNvSpPr/>
          <p:nvPr/>
        </p:nvSpPr>
        <p:spPr>
          <a:xfrm>
            <a:off x="3511563" y="9826112"/>
            <a:ext cx="11344944" cy="460888"/>
          </a:xfrm>
          <a:custGeom>
            <a:avLst/>
            <a:gdLst/>
            <a:ahLst/>
            <a:cxnLst/>
            <a:rect l="l" t="t" r="r" b="b"/>
            <a:pathLst>
              <a:path w="11344944" h="460888" extrusionOk="0">
                <a:moveTo>
                  <a:pt x="0" y="0"/>
                </a:moveTo>
                <a:lnTo>
                  <a:pt x="11344944" y="0"/>
                </a:lnTo>
                <a:lnTo>
                  <a:pt x="11344944" y="460888"/>
                </a:lnTo>
                <a:lnTo>
                  <a:pt x="0" y="460888"/>
                </a:lnTo>
                <a:lnTo>
                  <a:pt x="0" y="0"/>
                </a:lnTo>
                <a:close/>
              </a:path>
            </a:pathLst>
          </a:custGeom>
          <a:blipFill rotWithShape="1">
            <a:blip r:embed="rId6"/>
            <a:stretch>
              <a:fillRect/>
            </a:stretch>
          </a:blipFill>
          <a:ln>
            <a:noFill/>
          </a:ln>
        </p:spPr>
      </p:sp>
      <p:sp>
        <p:nvSpPr>
          <p:cNvPr id="188" name="Google Shape;188;p7"/>
          <p:cNvSpPr txBox="1"/>
          <p:nvPr/>
        </p:nvSpPr>
        <p:spPr>
          <a:xfrm>
            <a:off x="4165933" y="1507209"/>
            <a:ext cx="9685421"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a:solidFill>
                  <a:srgbClr val="2E3192"/>
                </a:solidFill>
                <a:latin typeface="Calibri" panose="020F0502020204030204"/>
                <a:ea typeface="Calibri" panose="020F0502020204030204"/>
                <a:cs typeface="Calibri" panose="020F0502020204030204"/>
                <a:sym typeface="Calibri" panose="020F0502020204030204"/>
              </a:rPr>
              <a:t>INNOHACK 2.0</a:t>
            </a:r>
            <a:endParaRPr sz="1800">
              <a:solidFill>
                <a:srgbClr val="2E3192"/>
              </a:solidFill>
              <a:latin typeface="Calibri" panose="020F0502020204030204"/>
              <a:ea typeface="Calibri" panose="020F0502020204030204"/>
              <a:cs typeface="Calibri" panose="020F0502020204030204"/>
              <a:sym typeface="Calibri" panose="020F0502020204030204"/>
            </a:endParaRPr>
          </a:p>
        </p:txBody>
      </p:sp>
      <p:sp>
        <p:nvSpPr>
          <p:cNvPr id="189" name="Google Shape;189;p7"/>
          <p:cNvSpPr txBox="1"/>
          <p:nvPr/>
        </p:nvSpPr>
        <p:spPr>
          <a:xfrm>
            <a:off x="887730" y="2925445"/>
            <a:ext cx="17400270" cy="31064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dk1"/>
                </a:solidFill>
                <a:latin typeface="Arial" panose="020B0604020202020204"/>
                <a:ea typeface="Arial" panose="020B0604020202020204"/>
                <a:cs typeface="Arial" panose="020B0604020202020204"/>
                <a:sym typeface="Arial" panose="020B0604020202020204"/>
              </a:rPr>
              <a:t>OBSTACLES DURING DEVELOPMENT:</a:t>
            </a:r>
            <a:endParaRPr 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ESP32 ADC pin stuck at max value (4095) on the soil sensor — traced to a wiring issue, not code</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ESP32 boards label pins differently ("D" pins vs actual GPIO), causing wiring/code mismatches</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Coordinating LoRa TX/RX testing across two separate setups required careful flash-then-separate sequencing</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Getting frequency, antenna, and range right across 3 LoRa nodes for reliable multi-hop relay</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No existing dataset, so disaster thresholds are estimated rather than data-driven</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p:txBody>
      </p:sp>
      <p:sp>
        <p:nvSpPr>
          <p:cNvPr id="190" name="Google Shape;190;p7"/>
          <p:cNvSpPr txBox="1"/>
          <p:nvPr/>
        </p:nvSpPr>
        <p:spPr>
          <a:xfrm>
            <a:off x="887730" y="6533515"/>
            <a:ext cx="16759555" cy="31064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dk1"/>
                </a:solidFill>
                <a:latin typeface="Arial" panose="020B0604020202020204"/>
                <a:ea typeface="Arial" panose="020B0604020202020204"/>
                <a:cs typeface="Arial" panose="020B0604020202020204"/>
                <a:sym typeface="Arial" panose="020B0604020202020204"/>
              </a:rPr>
              <a:t>PROBLEM-SOLVING ABILITY:</a:t>
            </a:r>
            <a:endParaRPr 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Isolated the ADC issue systematically — grounded the pin directly, used a multimeter — confirming wiring, not firmware, was at fault</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Tested each component individually (sensor, then LoRa TX/RX) before full integration, avoiding a hard-to-debug "test everything at once" approach</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Scoped a simple two-hop LoRa relay as the hackathon MVP, with dynamic mesh routing as future work</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p:txBody>
      </p:sp>
      <p:sp>
        <p:nvSpPr>
          <p:cNvPr id="191" name="Google Shape;191;p7"/>
          <p:cNvSpPr txBox="1"/>
          <p:nvPr/>
        </p:nvSpPr>
        <p:spPr>
          <a:xfrm>
            <a:off x="888415" y="2216419"/>
            <a:ext cx="9685421"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2E3192"/>
                </a:solidFill>
                <a:latin typeface="Calibri" panose="020F0502020204030204"/>
                <a:ea typeface="Calibri" panose="020F0502020204030204"/>
                <a:cs typeface="Calibri" panose="020F0502020204030204"/>
                <a:sym typeface="Calibri" panose="020F0502020204030204"/>
              </a:rPr>
              <a:t>CHALLENGES FACED</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grpSp>
        <p:nvGrpSpPr>
          <p:cNvPr id="196" name="Google Shape;196;p8"/>
          <p:cNvGrpSpPr/>
          <p:nvPr/>
        </p:nvGrpSpPr>
        <p:grpSpPr>
          <a:xfrm>
            <a:off x="3995767" y="-237591"/>
            <a:ext cx="10296467" cy="1734369"/>
            <a:chOff x="0" y="0"/>
            <a:chExt cx="13728622" cy="2312492"/>
          </a:xfrm>
        </p:grpSpPr>
        <p:sp>
          <p:nvSpPr>
            <p:cNvPr id="197" name="Google Shape;197;p8"/>
            <p:cNvSpPr/>
            <p:nvPr/>
          </p:nvSpPr>
          <p:spPr>
            <a:xfrm>
              <a:off x="11416130" y="0"/>
              <a:ext cx="2312492" cy="2312492"/>
            </a:xfrm>
            <a:custGeom>
              <a:avLst/>
              <a:gdLst/>
              <a:ahLst/>
              <a:cxnLst/>
              <a:rect l="l" t="t" r="r" b="b"/>
              <a:pathLst>
                <a:path w="2312492" h="2312492" extrusionOk="0">
                  <a:moveTo>
                    <a:pt x="0" y="0"/>
                  </a:moveTo>
                  <a:lnTo>
                    <a:pt x="2312492" y="0"/>
                  </a:lnTo>
                  <a:lnTo>
                    <a:pt x="2312492" y="2312492"/>
                  </a:lnTo>
                  <a:lnTo>
                    <a:pt x="0" y="2312492"/>
                  </a:lnTo>
                  <a:lnTo>
                    <a:pt x="0" y="0"/>
                  </a:lnTo>
                  <a:close/>
                </a:path>
              </a:pathLst>
            </a:custGeom>
            <a:blipFill rotWithShape="1">
              <a:blip r:embed="rId1"/>
              <a:stretch>
                <a:fillRect/>
              </a:stretch>
            </a:blipFill>
            <a:ln>
              <a:noFill/>
            </a:ln>
          </p:spPr>
        </p:sp>
        <p:sp>
          <p:nvSpPr>
            <p:cNvPr id="198" name="Google Shape;198;p8"/>
            <p:cNvSpPr/>
            <p:nvPr/>
          </p:nvSpPr>
          <p:spPr>
            <a:xfrm>
              <a:off x="9371173" y="547849"/>
              <a:ext cx="1754643" cy="1414221"/>
            </a:xfrm>
            <a:custGeom>
              <a:avLst/>
              <a:gdLst/>
              <a:ahLst/>
              <a:cxnLst/>
              <a:rect l="l" t="t" r="r" b="b"/>
              <a:pathLst>
                <a:path w="1754643" h="1414221" extrusionOk="0">
                  <a:moveTo>
                    <a:pt x="0" y="0"/>
                  </a:moveTo>
                  <a:lnTo>
                    <a:pt x="1754643" y="0"/>
                  </a:lnTo>
                  <a:lnTo>
                    <a:pt x="1754643" y="1414221"/>
                  </a:lnTo>
                  <a:lnTo>
                    <a:pt x="0" y="1414221"/>
                  </a:lnTo>
                  <a:lnTo>
                    <a:pt x="0" y="0"/>
                  </a:lnTo>
                  <a:close/>
                </a:path>
              </a:pathLst>
            </a:custGeom>
            <a:blipFill rotWithShape="1">
              <a:blip r:embed="rId2"/>
              <a:stretch>
                <a:fillRect/>
              </a:stretch>
            </a:blipFill>
            <a:ln>
              <a:noFill/>
            </a:ln>
          </p:spPr>
        </p:sp>
        <p:sp>
          <p:nvSpPr>
            <p:cNvPr id="199" name="Google Shape;199;p8"/>
            <p:cNvSpPr/>
            <p:nvPr/>
          </p:nvSpPr>
          <p:spPr>
            <a:xfrm>
              <a:off x="0" y="604703"/>
              <a:ext cx="3006153" cy="1300514"/>
            </a:xfrm>
            <a:custGeom>
              <a:avLst/>
              <a:gdLst/>
              <a:ahLst/>
              <a:cxnLst/>
              <a:rect l="l" t="t" r="r" b="b"/>
              <a:pathLst>
                <a:path w="3006153" h="1300514" extrusionOk="0">
                  <a:moveTo>
                    <a:pt x="0" y="0"/>
                  </a:moveTo>
                  <a:lnTo>
                    <a:pt x="3006153" y="0"/>
                  </a:lnTo>
                  <a:lnTo>
                    <a:pt x="3006153" y="1300513"/>
                  </a:lnTo>
                  <a:lnTo>
                    <a:pt x="0" y="1300513"/>
                  </a:lnTo>
                  <a:lnTo>
                    <a:pt x="0" y="0"/>
                  </a:lnTo>
                  <a:close/>
                </a:path>
              </a:pathLst>
            </a:custGeom>
            <a:blipFill rotWithShape="1">
              <a:blip r:embed="rId3"/>
              <a:stretch>
                <a:fillRect/>
              </a:stretch>
            </a:blipFill>
            <a:ln>
              <a:noFill/>
            </a:ln>
          </p:spPr>
        </p:sp>
        <p:sp>
          <p:nvSpPr>
            <p:cNvPr id="200" name="Google Shape;200;p8"/>
            <p:cNvSpPr/>
            <p:nvPr/>
          </p:nvSpPr>
          <p:spPr>
            <a:xfrm>
              <a:off x="3823451" y="643512"/>
              <a:ext cx="4906265" cy="1318559"/>
            </a:xfrm>
            <a:custGeom>
              <a:avLst/>
              <a:gdLst/>
              <a:ahLst/>
              <a:cxnLst/>
              <a:rect l="l" t="t" r="r" b="b"/>
              <a:pathLst>
                <a:path w="4906265" h="1318559" extrusionOk="0">
                  <a:moveTo>
                    <a:pt x="0" y="0"/>
                  </a:moveTo>
                  <a:lnTo>
                    <a:pt x="4906265" y="0"/>
                  </a:lnTo>
                  <a:lnTo>
                    <a:pt x="4906265" y="1318558"/>
                  </a:lnTo>
                  <a:lnTo>
                    <a:pt x="0" y="1318558"/>
                  </a:lnTo>
                  <a:lnTo>
                    <a:pt x="0" y="0"/>
                  </a:lnTo>
                  <a:close/>
                </a:path>
              </a:pathLst>
            </a:custGeom>
            <a:blipFill rotWithShape="1">
              <a:blip r:embed="rId4"/>
              <a:stretch>
                <a:fillRect/>
              </a:stretch>
            </a:blipFill>
            <a:ln>
              <a:noFill/>
            </a:ln>
          </p:spPr>
        </p:sp>
      </p:grpSp>
      <p:sp>
        <p:nvSpPr>
          <p:cNvPr id="201" name="Google Shape;201;p8"/>
          <p:cNvSpPr/>
          <p:nvPr/>
        </p:nvSpPr>
        <p:spPr>
          <a:xfrm>
            <a:off x="-32901" y="1051100"/>
            <a:ext cx="18323704" cy="8777017"/>
          </a:xfrm>
          <a:custGeom>
            <a:avLst/>
            <a:gdLst/>
            <a:ahLst/>
            <a:cxnLst/>
            <a:rect l="l" t="t" r="r" b="b"/>
            <a:pathLst>
              <a:path w="18323704" h="8777017" extrusionOk="0">
                <a:moveTo>
                  <a:pt x="0" y="0"/>
                </a:moveTo>
                <a:lnTo>
                  <a:pt x="18323704" y="0"/>
                </a:lnTo>
                <a:lnTo>
                  <a:pt x="18323704" y="8777017"/>
                </a:lnTo>
                <a:lnTo>
                  <a:pt x="0" y="8777017"/>
                </a:lnTo>
                <a:lnTo>
                  <a:pt x="0" y="0"/>
                </a:lnTo>
                <a:close/>
              </a:path>
            </a:pathLst>
          </a:custGeom>
          <a:blipFill rotWithShape="1">
            <a:blip r:embed="rId5">
              <a:alphaModFix amt="32999"/>
            </a:blip>
            <a:stretch>
              <a:fillRect l="-2658" b="-40752"/>
            </a:stretch>
          </a:blipFill>
          <a:ln>
            <a:noFill/>
          </a:ln>
        </p:spPr>
      </p:sp>
      <p:sp>
        <p:nvSpPr>
          <p:cNvPr id="202" name="Google Shape;202;p8"/>
          <p:cNvSpPr/>
          <p:nvPr/>
        </p:nvSpPr>
        <p:spPr>
          <a:xfrm>
            <a:off x="3511563" y="9826112"/>
            <a:ext cx="11344944" cy="460888"/>
          </a:xfrm>
          <a:custGeom>
            <a:avLst/>
            <a:gdLst/>
            <a:ahLst/>
            <a:cxnLst/>
            <a:rect l="l" t="t" r="r" b="b"/>
            <a:pathLst>
              <a:path w="11344944" h="460888" extrusionOk="0">
                <a:moveTo>
                  <a:pt x="0" y="0"/>
                </a:moveTo>
                <a:lnTo>
                  <a:pt x="11344944" y="0"/>
                </a:lnTo>
                <a:lnTo>
                  <a:pt x="11344944" y="460888"/>
                </a:lnTo>
                <a:lnTo>
                  <a:pt x="0" y="460888"/>
                </a:lnTo>
                <a:lnTo>
                  <a:pt x="0" y="0"/>
                </a:lnTo>
                <a:close/>
              </a:path>
            </a:pathLst>
          </a:custGeom>
          <a:blipFill rotWithShape="1">
            <a:blip r:embed="rId6"/>
            <a:stretch>
              <a:fillRect/>
            </a:stretch>
          </a:blipFill>
          <a:ln>
            <a:noFill/>
          </a:ln>
        </p:spPr>
      </p:sp>
      <p:sp>
        <p:nvSpPr>
          <p:cNvPr id="203" name="Google Shape;203;p8"/>
          <p:cNvSpPr txBox="1"/>
          <p:nvPr/>
        </p:nvSpPr>
        <p:spPr>
          <a:xfrm>
            <a:off x="4165933" y="1507209"/>
            <a:ext cx="9685421"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a:solidFill>
                  <a:srgbClr val="2E3192"/>
                </a:solidFill>
                <a:latin typeface="Calibri" panose="020F0502020204030204"/>
                <a:ea typeface="Calibri" panose="020F0502020204030204"/>
                <a:cs typeface="Calibri" panose="020F0502020204030204"/>
                <a:sym typeface="Calibri" panose="020F0502020204030204"/>
              </a:rPr>
              <a:t>INNOHACK 2.0</a:t>
            </a:r>
            <a:endParaRPr sz="1800">
              <a:solidFill>
                <a:srgbClr val="2E3192"/>
              </a:solidFill>
              <a:latin typeface="Calibri" panose="020F0502020204030204"/>
              <a:ea typeface="Calibri" panose="020F0502020204030204"/>
              <a:cs typeface="Calibri" panose="020F0502020204030204"/>
              <a:sym typeface="Calibri" panose="020F0502020204030204"/>
            </a:endParaRPr>
          </a:p>
        </p:txBody>
      </p:sp>
      <p:sp>
        <p:nvSpPr>
          <p:cNvPr id="204" name="Google Shape;204;p8"/>
          <p:cNvSpPr txBox="1"/>
          <p:nvPr/>
        </p:nvSpPr>
        <p:spPr>
          <a:xfrm>
            <a:off x="997585" y="3291840"/>
            <a:ext cx="15968345" cy="5691505"/>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Expand from 3 nodes to a full village-wide mesh, with multiple nodes hopping data across many hops rather than just A→B→C</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Font typeface="Arial" panose="020B0604020202020204" pitchFamily="34" charset="0"/>
              <a:buNone/>
            </a:pP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Replace hardcoded thresholds with an ML model trained on real collected sensor data for more accurate predictions</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Font typeface="Arial" panose="020B0604020202020204" pitchFamily="34" charset="0"/>
              <a:buNone/>
            </a:pP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Add solar + battery power management for true off-grid, long-term deployment</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Font typeface="Arial" panose="020B0604020202020204" pitchFamily="34" charset="0"/>
              <a:buNone/>
            </a:pP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Build a proper mobile/web app for the rescue department instead of just a local webpage — including alerts, historical trends, and multi-village dashboards</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Font typeface="Arial" panose="020B0604020202020204" pitchFamily="34" charset="0"/>
              <a:buNone/>
            </a:pP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Add GPS modules to each node for precise location tagging instead of fixed/manual coordinates</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p:txBody>
      </p:sp>
      <p:sp>
        <p:nvSpPr>
          <p:cNvPr id="206" name="Google Shape;206;p8"/>
          <p:cNvSpPr txBox="1"/>
          <p:nvPr/>
        </p:nvSpPr>
        <p:spPr>
          <a:xfrm>
            <a:off x="888415" y="2216419"/>
            <a:ext cx="9685421"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2E3192"/>
                </a:solidFill>
                <a:latin typeface="Calibri" panose="020F0502020204030204"/>
                <a:ea typeface="Calibri" panose="020F0502020204030204"/>
                <a:cs typeface="Calibri" panose="020F0502020204030204"/>
                <a:sym typeface="Calibri" panose="020F0502020204030204"/>
              </a:rPr>
              <a:t>FUTURE SCOPE</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grpSp>
        <p:nvGrpSpPr>
          <p:cNvPr id="211" name="Google Shape;211;p9"/>
          <p:cNvGrpSpPr/>
          <p:nvPr/>
        </p:nvGrpSpPr>
        <p:grpSpPr>
          <a:xfrm>
            <a:off x="3995767" y="-237591"/>
            <a:ext cx="10296467" cy="1734369"/>
            <a:chOff x="0" y="0"/>
            <a:chExt cx="13728622" cy="2312492"/>
          </a:xfrm>
        </p:grpSpPr>
        <p:sp>
          <p:nvSpPr>
            <p:cNvPr id="212" name="Google Shape;212;p9"/>
            <p:cNvSpPr/>
            <p:nvPr/>
          </p:nvSpPr>
          <p:spPr>
            <a:xfrm>
              <a:off x="11416130" y="0"/>
              <a:ext cx="2312492" cy="2312492"/>
            </a:xfrm>
            <a:custGeom>
              <a:avLst/>
              <a:gdLst/>
              <a:ahLst/>
              <a:cxnLst/>
              <a:rect l="l" t="t" r="r" b="b"/>
              <a:pathLst>
                <a:path w="2312492" h="2312492" extrusionOk="0">
                  <a:moveTo>
                    <a:pt x="0" y="0"/>
                  </a:moveTo>
                  <a:lnTo>
                    <a:pt x="2312492" y="0"/>
                  </a:lnTo>
                  <a:lnTo>
                    <a:pt x="2312492" y="2312492"/>
                  </a:lnTo>
                  <a:lnTo>
                    <a:pt x="0" y="2312492"/>
                  </a:lnTo>
                  <a:lnTo>
                    <a:pt x="0" y="0"/>
                  </a:lnTo>
                  <a:close/>
                </a:path>
              </a:pathLst>
            </a:custGeom>
            <a:blipFill rotWithShape="1">
              <a:blip r:embed="rId1"/>
              <a:stretch>
                <a:fillRect/>
              </a:stretch>
            </a:blipFill>
            <a:ln>
              <a:noFill/>
            </a:ln>
          </p:spPr>
        </p:sp>
        <p:sp>
          <p:nvSpPr>
            <p:cNvPr id="213" name="Google Shape;213;p9"/>
            <p:cNvSpPr/>
            <p:nvPr/>
          </p:nvSpPr>
          <p:spPr>
            <a:xfrm>
              <a:off x="9371173" y="547849"/>
              <a:ext cx="1754643" cy="1414221"/>
            </a:xfrm>
            <a:custGeom>
              <a:avLst/>
              <a:gdLst/>
              <a:ahLst/>
              <a:cxnLst/>
              <a:rect l="l" t="t" r="r" b="b"/>
              <a:pathLst>
                <a:path w="1754643" h="1414221" extrusionOk="0">
                  <a:moveTo>
                    <a:pt x="0" y="0"/>
                  </a:moveTo>
                  <a:lnTo>
                    <a:pt x="1754643" y="0"/>
                  </a:lnTo>
                  <a:lnTo>
                    <a:pt x="1754643" y="1414221"/>
                  </a:lnTo>
                  <a:lnTo>
                    <a:pt x="0" y="1414221"/>
                  </a:lnTo>
                  <a:lnTo>
                    <a:pt x="0" y="0"/>
                  </a:lnTo>
                  <a:close/>
                </a:path>
              </a:pathLst>
            </a:custGeom>
            <a:blipFill rotWithShape="1">
              <a:blip r:embed="rId2"/>
              <a:stretch>
                <a:fillRect/>
              </a:stretch>
            </a:blipFill>
            <a:ln>
              <a:noFill/>
            </a:ln>
          </p:spPr>
        </p:sp>
        <p:sp>
          <p:nvSpPr>
            <p:cNvPr id="214" name="Google Shape;214;p9"/>
            <p:cNvSpPr/>
            <p:nvPr/>
          </p:nvSpPr>
          <p:spPr>
            <a:xfrm>
              <a:off x="0" y="604703"/>
              <a:ext cx="3006153" cy="1300514"/>
            </a:xfrm>
            <a:custGeom>
              <a:avLst/>
              <a:gdLst/>
              <a:ahLst/>
              <a:cxnLst/>
              <a:rect l="l" t="t" r="r" b="b"/>
              <a:pathLst>
                <a:path w="3006153" h="1300514" extrusionOk="0">
                  <a:moveTo>
                    <a:pt x="0" y="0"/>
                  </a:moveTo>
                  <a:lnTo>
                    <a:pt x="3006153" y="0"/>
                  </a:lnTo>
                  <a:lnTo>
                    <a:pt x="3006153" y="1300513"/>
                  </a:lnTo>
                  <a:lnTo>
                    <a:pt x="0" y="1300513"/>
                  </a:lnTo>
                  <a:lnTo>
                    <a:pt x="0" y="0"/>
                  </a:lnTo>
                  <a:close/>
                </a:path>
              </a:pathLst>
            </a:custGeom>
            <a:blipFill rotWithShape="1">
              <a:blip r:embed="rId3"/>
              <a:stretch>
                <a:fillRect/>
              </a:stretch>
            </a:blipFill>
            <a:ln>
              <a:noFill/>
            </a:ln>
          </p:spPr>
        </p:sp>
        <p:sp>
          <p:nvSpPr>
            <p:cNvPr id="215" name="Google Shape;215;p9"/>
            <p:cNvSpPr/>
            <p:nvPr/>
          </p:nvSpPr>
          <p:spPr>
            <a:xfrm>
              <a:off x="3823451" y="643512"/>
              <a:ext cx="4906265" cy="1318559"/>
            </a:xfrm>
            <a:custGeom>
              <a:avLst/>
              <a:gdLst/>
              <a:ahLst/>
              <a:cxnLst/>
              <a:rect l="l" t="t" r="r" b="b"/>
              <a:pathLst>
                <a:path w="4906265" h="1318559" extrusionOk="0">
                  <a:moveTo>
                    <a:pt x="0" y="0"/>
                  </a:moveTo>
                  <a:lnTo>
                    <a:pt x="4906265" y="0"/>
                  </a:lnTo>
                  <a:lnTo>
                    <a:pt x="4906265" y="1318558"/>
                  </a:lnTo>
                  <a:lnTo>
                    <a:pt x="0" y="1318558"/>
                  </a:lnTo>
                  <a:lnTo>
                    <a:pt x="0" y="0"/>
                  </a:lnTo>
                  <a:close/>
                </a:path>
              </a:pathLst>
            </a:custGeom>
            <a:blipFill rotWithShape="1">
              <a:blip r:embed="rId4"/>
              <a:stretch>
                <a:fillRect/>
              </a:stretch>
            </a:blipFill>
            <a:ln>
              <a:noFill/>
            </a:ln>
          </p:spPr>
        </p:sp>
      </p:grpSp>
      <p:sp>
        <p:nvSpPr>
          <p:cNvPr id="216" name="Google Shape;216;p9"/>
          <p:cNvSpPr/>
          <p:nvPr/>
        </p:nvSpPr>
        <p:spPr>
          <a:xfrm>
            <a:off x="-32901" y="1051100"/>
            <a:ext cx="18323704" cy="8777017"/>
          </a:xfrm>
          <a:custGeom>
            <a:avLst/>
            <a:gdLst/>
            <a:ahLst/>
            <a:cxnLst/>
            <a:rect l="l" t="t" r="r" b="b"/>
            <a:pathLst>
              <a:path w="18323704" h="8777017" extrusionOk="0">
                <a:moveTo>
                  <a:pt x="0" y="0"/>
                </a:moveTo>
                <a:lnTo>
                  <a:pt x="18323704" y="0"/>
                </a:lnTo>
                <a:lnTo>
                  <a:pt x="18323704" y="8777017"/>
                </a:lnTo>
                <a:lnTo>
                  <a:pt x="0" y="8777017"/>
                </a:lnTo>
                <a:lnTo>
                  <a:pt x="0" y="0"/>
                </a:lnTo>
                <a:close/>
              </a:path>
            </a:pathLst>
          </a:custGeom>
          <a:blipFill rotWithShape="1">
            <a:blip r:embed="rId5">
              <a:alphaModFix amt="32999"/>
            </a:blip>
            <a:stretch>
              <a:fillRect l="-2658" b="-40752"/>
            </a:stretch>
          </a:blipFill>
          <a:ln>
            <a:noFill/>
          </a:ln>
        </p:spPr>
      </p:sp>
      <p:sp>
        <p:nvSpPr>
          <p:cNvPr id="217" name="Google Shape;217;p9"/>
          <p:cNvSpPr/>
          <p:nvPr/>
        </p:nvSpPr>
        <p:spPr>
          <a:xfrm>
            <a:off x="3511563" y="9826112"/>
            <a:ext cx="11344944" cy="460888"/>
          </a:xfrm>
          <a:custGeom>
            <a:avLst/>
            <a:gdLst/>
            <a:ahLst/>
            <a:cxnLst/>
            <a:rect l="l" t="t" r="r" b="b"/>
            <a:pathLst>
              <a:path w="11344944" h="460888" extrusionOk="0">
                <a:moveTo>
                  <a:pt x="0" y="0"/>
                </a:moveTo>
                <a:lnTo>
                  <a:pt x="11344944" y="0"/>
                </a:lnTo>
                <a:lnTo>
                  <a:pt x="11344944" y="460888"/>
                </a:lnTo>
                <a:lnTo>
                  <a:pt x="0" y="460888"/>
                </a:lnTo>
                <a:lnTo>
                  <a:pt x="0" y="0"/>
                </a:lnTo>
                <a:close/>
              </a:path>
            </a:pathLst>
          </a:custGeom>
          <a:blipFill rotWithShape="1">
            <a:blip r:embed="rId6"/>
            <a:stretch>
              <a:fillRect/>
            </a:stretch>
          </a:blipFill>
          <a:ln>
            <a:noFill/>
          </a:ln>
        </p:spPr>
      </p:sp>
      <p:sp>
        <p:nvSpPr>
          <p:cNvPr id="218" name="Google Shape;218;p9"/>
          <p:cNvSpPr txBox="1"/>
          <p:nvPr/>
        </p:nvSpPr>
        <p:spPr>
          <a:xfrm>
            <a:off x="4165933" y="1507209"/>
            <a:ext cx="9685421"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a:solidFill>
                  <a:srgbClr val="2E3192"/>
                </a:solidFill>
                <a:latin typeface="Calibri" panose="020F0502020204030204"/>
                <a:ea typeface="Calibri" panose="020F0502020204030204"/>
                <a:cs typeface="Calibri" panose="020F0502020204030204"/>
                <a:sym typeface="Calibri" panose="020F0502020204030204"/>
              </a:rPr>
              <a:t>INNOHACK 2.0</a:t>
            </a:r>
            <a:endParaRPr sz="1800">
              <a:solidFill>
                <a:srgbClr val="2E3192"/>
              </a:solidFill>
              <a:latin typeface="Calibri" panose="020F0502020204030204"/>
              <a:ea typeface="Calibri" panose="020F0502020204030204"/>
              <a:cs typeface="Calibri" panose="020F0502020204030204"/>
              <a:sym typeface="Calibri" panose="020F0502020204030204"/>
            </a:endParaRPr>
          </a:p>
        </p:txBody>
      </p:sp>
      <p:sp>
        <p:nvSpPr>
          <p:cNvPr id="219" name="Google Shape;219;p9"/>
          <p:cNvSpPr txBox="1"/>
          <p:nvPr/>
        </p:nvSpPr>
        <p:spPr>
          <a:xfrm>
            <a:off x="886460" y="3038475"/>
            <a:ext cx="16220440" cy="63995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en-US" sz="2800" b="1">
                <a:solidFill>
                  <a:schemeClr val="dk1"/>
                </a:solidFill>
                <a:latin typeface="Arial" panose="020B0604020202020204"/>
                <a:ea typeface="Arial" panose="020B0604020202020204"/>
                <a:cs typeface="Arial" panose="020B0604020202020204"/>
                <a:sym typeface="Arial" panose="020B0604020202020204"/>
              </a:rPr>
              <a:t>A hybrid hardware + software disaster early-warning mesh network built with ESP32 and LoRa — sensor nodes at river and landslide-prone zones relay data hop-by-hop to a rescue-department node, which hosts a local WiFi dashboard showing live sensor readings and predicted disaster risk, all without needing internet or cellular connectivity.</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altLang="en-US" sz="2800" b="1">
                <a:solidFill>
                  <a:schemeClr val="dk1"/>
                </a:solidFill>
                <a:latin typeface="Arial" panose="020B0604020202020204"/>
                <a:ea typeface="Arial" panose="020B0604020202020204"/>
                <a:cs typeface="Arial" panose="020B0604020202020204"/>
                <a:sym typeface="Arial" panose="020B0604020202020204"/>
              </a:rPr>
              <a:t>NOVELTY:</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Fully offline, end-to-end system — sensing, relaying, and viewing all work with zero internet dependency, unlike most disaster alert systems that assume connectivity</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True multi-hop LoRa mesh relay, designed to scale to village-wide coverage rather than a single point-to-point link</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Unifies multiple hazard types (flood + landslide) into one network and one dashboard instead of siloed single-sensor systems</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altLang="en-US" sz="2800" b="1">
                <a:solidFill>
                  <a:schemeClr val="dk1"/>
                </a:solidFill>
                <a:latin typeface="Arial" panose="020B0604020202020204"/>
                <a:ea typeface="Arial" panose="020B0604020202020204"/>
                <a:cs typeface="Arial" panose="020B0604020202020204"/>
                <a:sym typeface="Arial" panose="020B0604020202020204"/>
              </a:rPr>
              <a:t>Low-cost, deployable hardware makes last-mile disaster monitoring realistic for exactly the resource-constrained rural regions that need it most</a:t>
            </a:r>
            <a:endParaRPr lang="en-US" altLang="en-US" sz="2800" b="1">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Font typeface="Arial" panose="020B0604020202020204" pitchFamily="34" charset="0"/>
              <a:buChar char="•"/>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1" name="Google Shape;221;p9"/>
          <p:cNvSpPr txBox="1"/>
          <p:nvPr/>
        </p:nvSpPr>
        <p:spPr>
          <a:xfrm>
            <a:off x="888415" y="2216419"/>
            <a:ext cx="9685421"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2E3192"/>
                </a:solidFill>
                <a:latin typeface="Calibri" panose="020F0502020204030204"/>
                <a:ea typeface="Calibri" panose="020F0502020204030204"/>
                <a:cs typeface="Calibri" panose="020F0502020204030204"/>
                <a:sym typeface="Calibri" panose="020F0502020204030204"/>
              </a:rPr>
              <a:t>CONCLUSION</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2" name="Google Shape;222;p9"/>
          <p:cNvSpPr txBox="1"/>
          <p:nvPr/>
        </p:nvSpPr>
        <p:spPr>
          <a:xfrm>
            <a:off x="4165933" y="1507209"/>
            <a:ext cx="9685421"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a:solidFill>
                  <a:srgbClr val="2E3192"/>
                </a:solidFill>
                <a:latin typeface="Calibri" panose="020F0502020204030204"/>
                <a:ea typeface="Calibri" panose="020F0502020204030204"/>
                <a:cs typeface="Calibri" panose="020F0502020204030204"/>
                <a:sym typeface="Calibri" panose="020F0502020204030204"/>
              </a:rPr>
              <a:t>INNOHACK 2.0</a:t>
            </a:r>
            <a:endParaRPr sz="1800">
              <a:solidFill>
                <a:srgbClr val="2E3192"/>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grpSp>
        <p:nvGrpSpPr>
          <p:cNvPr id="227" name="Google Shape;227;p10"/>
          <p:cNvGrpSpPr/>
          <p:nvPr/>
        </p:nvGrpSpPr>
        <p:grpSpPr>
          <a:xfrm>
            <a:off x="3995767" y="-237591"/>
            <a:ext cx="10296467" cy="1734369"/>
            <a:chOff x="0" y="0"/>
            <a:chExt cx="13728622" cy="2312492"/>
          </a:xfrm>
        </p:grpSpPr>
        <p:sp>
          <p:nvSpPr>
            <p:cNvPr id="228" name="Google Shape;228;p10"/>
            <p:cNvSpPr/>
            <p:nvPr/>
          </p:nvSpPr>
          <p:spPr>
            <a:xfrm>
              <a:off x="11416130" y="0"/>
              <a:ext cx="2312492" cy="2312492"/>
            </a:xfrm>
            <a:custGeom>
              <a:avLst/>
              <a:gdLst/>
              <a:ahLst/>
              <a:cxnLst/>
              <a:rect l="l" t="t" r="r" b="b"/>
              <a:pathLst>
                <a:path w="2312492" h="2312492" extrusionOk="0">
                  <a:moveTo>
                    <a:pt x="0" y="0"/>
                  </a:moveTo>
                  <a:lnTo>
                    <a:pt x="2312492" y="0"/>
                  </a:lnTo>
                  <a:lnTo>
                    <a:pt x="2312492" y="2312492"/>
                  </a:lnTo>
                  <a:lnTo>
                    <a:pt x="0" y="2312492"/>
                  </a:lnTo>
                  <a:lnTo>
                    <a:pt x="0" y="0"/>
                  </a:lnTo>
                  <a:close/>
                </a:path>
              </a:pathLst>
            </a:custGeom>
            <a:blipFill rotWithShape="1">
              <a:blip r:embed="rId1"/>
              <a:stretch>
                <a:fillRect/>
              </a:stretch>
            </a:blipFill>
            <a:ln>
              <a:noFill/>
            </a:ln>
          </p:spPr>
        </p:sp>
        <p:sp>
          <p:nvSpPr>
            <p:cNvPr id="229" name="Google Shape;229;p10"/>
            <p:cNvSpPr/>
            <p:nvPr/>
          </p:nvSpPr>
          <p:spPr>
            <a:xfrm>
              <a:off x="9371173" y="547849"/>
              <a:ext cx="1754643" cy="1414221"/>
            </a:xfrm>
            <a:custGeom>
              <a:avLst/>
              <a:gdLst/>
              <a:ahLst/>
              <a:cxnLst/>
              <a:rect l="l" t="t" r="r" b="b"/>
              <a:pathLst>
                <a:path w="1754643" h="1414221" extrusionOk="0">
                  <a:moveTo>
                    <a:pt x="0" y="0"/>
                  </a:moveTo>
                  <a:lnTo>
                    <a:pt x="1754643" y="0"/>
                  </a:lnTo>
                  <a:lnTo>
                    <a:pt x="1754643" y="1414221"/>
                  </a:lnTo>
                  <a:lnTo>
                    <a:pt x="0" y="1414221"/>
                  </a:lnTo>
                  <a:lnTo>
                    <a:pt x="0" y="0"/>
                  </a:lnTo>
                  <a:close/>
                </a:path>
              </a:pathLst>
            </a:custGeom>
            <a:blipFill rotWithShape="1">
              <a:blip r:embed="rId2"/>
              <a:stretch>
                <a:fillRect/>
              </a:stretch>
            </a:blipFill>
            <a:ln>
              <a:noFill/>
            </a:ln>
          </p:spPr>
        </p:sp>
        <p:sp>
          <p:nvSpPr>
            <p:cNvPr id="230" name="Google Shape;230;p10"/>
            <p:cNvSpPr/>
            <p:nvPr/>
          </p:nvSpPr>
          <p:spPr>
            <a:xfrm>
              <a:off x="0" y="604703"/>
              <a:ext cx="3006153" cy="1300514"/>
            </a:xfrm>
            <a:custGeom>
              <a:avLst/>
              <a:gdLst/>
              <a:ahLst/>
              <a:cxnLst/>
              <a:rect l="l" t="t" r="r" b="b"/>
              <a:pathLst>
                <a:path w="3006153" h="1300514" extrusionOk="0">
                  <a:moveTo>
                    <a:pt x="0" y="0"/>
                  </a:moveTo>
                  <a:lnTo>
                    <a:pt x="3006153" y="0"/>
                  </a:lnTo>
                  <a:lnTo>
                    <a:pt x="3006153" y="1300513"/>
                  </a:lnTo>
                  <a:lnTo>
                    <a:pt x="0" y="1300513"/>
                  </a:lnTo>
                  <a:lnTo>
                    <a:pt x="0" y="0"/>
                  </a:lnTo>
                  <a:close/>
                </a:path>
              </a:pathLst>
            </a:custGeom>
            <a:blipFill rotWithShape="1">
              <a:blip r:embed="rId3"/>
              <a:stretch>
                <a:fillRect/>
              </a:stretch>
            </a:blipFill>
            <a:ln>
              <a:noFill/>
            </a:ln>
          </p:spPr>
        </p:sp>
        <p:sp>
          <p:nvSpPr>
            <p:cNvPr id="231" name="Google Shape;231;p10"/>
            <p:cNvSpPr/>
            <p:nvPr/>
          </p:nvSpPr>
          <p:spPr>
            <a:xfrm>
              <a:off x="3823451" y="643512"/>
              <a:ext cx="4906265" cy="1318559"/>
            </a:xfrm>
            <a:custGeom>
              <a:avLst/>
              <a:gdLst/>
              <a:ahLst/>
              <a:cxnLst/>
              <a:rect l="l" t="t" r="r" b="b"/>
              <a:pathLst>
                <a:path w="4906265" h="1318559" extrusionOk="0">
                  <a:moveTo>
                    <a:pt x="0" y="0"/>
                  </a:moveTo>
                  <a:lnTo>
                    <a:pt x="4906265" y="0"/>
                  </a:lnTo>
                  <a:lnTo>
                    <a:pt x="4906265" y="1318558"/>
                  </a:lnTo>
                  <a:lnTo>
                    <a:pt x="0" y="1318558"/>
                  </a:lnTo>
                  <a:lnTo>
                    <a:pt x="0" y="0"/>
                  </a:lnTo>
                  <a:close/>
                </a:path>
              </a:pathLst>
            </a:custGeom>
            <a:blipFill rotWithShape="1">
              <a:blip r:embed="rId4"/>
              <a:stretch>
                <a:fillRect/>
              </a:stretch>
            </a:blipFill>
            <a:ln>
              <a:noFill/>
            </a:ln>
          </p:spPr>
        </p:sp>
      </p:grpSp>
      <p:sp>
        <p:nvSpPr>
          <p:cNvPr id="232" name="Google Shape;232;p10"/>
          <p:cNvSpPr/>
          <p:nvPr/>
        </p:nvSpPr>
        <p:spPr>
          <a:xfrm>
            <a:off x="-32901" y="1051100"/>
            <a:ext cx="18323704" cy="8777017"/>
          </a:xfrm>
          <a:custGeom>
            <a:avLst/>
            <a:gdLst/>
            <a:ahLst/>
            <a:cxnLst/>
            <a:rect l="l" t="t" r="r" b="b"/>
            <a:pathLst>
              <a:path w="18323704" h="8777017" extrusionOk="0">
                <a:moveTo>
                  <a:pt x="0" y="0"/>
                </a:moveTo>
                <a:lnTo>
                  <a:pt x="18323704" y="0"/>
                </a:lnTo>
                <a:lnTo>
                  <a:pt x="18323704" y="8777017"/>
                </a:lnTo>
                <a:lnTo>
                  <a:pt x="0" y="8777017"/>
                </a:lnTo>
                <a:lnTo>
                  <a:pt x="0" y="0"/>
                </a:lnTo>
                <a:close/>
              </a:path>
            </a:pathLst>
          </a:custGeom>
          <a:blipFill rotWithShape="1">
            <a:blip r:embed="rId5">
              <a:alphaModFix amt="32999"/>
            </a:blip>
            <a:stretch>
              <a:fillRect l="-2658" b="-40752"/>
            </a:stretch>
          </a:blipFill>
          <a:ln>
            <a:noFill/>
          </a:ln>
        </p:spPr>
      </p:sp>
      <p:sp>
        <p:nvSpPr>
          <p:cNvPr id="233" name="Google Shape;233;p10"/>
          <p:cNvSpPr/>
          <p:nvPr/>
        </p:nvSpPr>
        <p:spPr>
          <a:xfrm>
            <a:off x="3511563" y="9826112"/>
            <a:ext cx="11344944" cy="460888"/>
          </a:xfrm>
          <a:custGeom>
            <a:avLst/>
            <a:gdLst/>
            <a:ahLst/>
            <a:cxnLst/>
            <a:rect l="l" t="t" r="r" b="b"/>
            <a:pathLst>
              <a:path w="11344944" h="460888" extrusionOk="0">
                <a:moveTo>
                  <a:pt x="0" y="0"/>
                </a:moveTo>
                <a:lnTo>
                  <a:pt x="11344944" y="0"/>
                </a:lnTo>
                <a:lnTo>
                  <a:pt x="11344944" y="460888"/>
                </a:lnTo>
                <a:lnTo>
                  <a:pt x="0" y="460888"/>
                </a:lnTo>
                <a:lnTo>
                  <a:pt x="0" y="0"/>
                </a:lnTo>
                <a:close/>
              </a:path>
            </a:pathLst>
          </a:custGeom>
          <a:blipFill rotWithShape="1">
            <a:blip r:embed="rId6"/>
            <a:stretch>
              <a:fillRect/>
            </a:stretch>
          </a:blipFill>
          <a:ln>
            <a:noFill/>
          </a:ln>
        </p:spPr>
      </p:sp>
      <p:sp>
        <p:nvSpPr>
          <p:cNvPr id="234" name="Google Shape;234;p10"/>
          <p:cNvSpPr txBox="1"/>
          <p:nvPr/>
        </p:nvSpPr>
        <p:spPr>
          <a:xfrm>
            <a:off x="4165933" y="1507209"/>
            <a:ext cx="9685421"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a:solidFill>
                  <a:srgbClr val="2E3192"/>
                </a:solidFill>
                <a:latin typeface="Calibri" panose="020F0502020204030204"/>
                <a:ea typeface="Calibri" panose="020F0502020204030204"/>
                <a:cs typeface="Calibri" panose="020F0502020204030204"/>
                <a:sym typeface="Calibri" panose="020F0502020204030204"/>
              </a:rPr>
              <a:t>INNOHACK 2.0</a:t>
            </a:r>
            <a:endParaRPr sz="1800">
              <a:solidFill>
                <a:srgbClr val="2E3192"/>
              </a:solidFill>
              <a:latin typeface="Calibri" panose="020F0502020204030204"/>
              <a:ea typeface="Calibri" panose="020F0502020204030204"/>
              <a:cs typeface="Calibri" panose="020F0502020204030204"/>
              <a:sym typeface="Calibri" panose="020F0502020204030204"/>
            </a:endParaRPr>
          </a:p>
        </p:txBody>
      </p:sp>
      <p:sp>
        <p:nvSpPr>
          <p:cNvPr id="235" name="Google Shape;235;p10"/>
          <p:cNvSpPr txBox="1"/>
          <p:nvPr/>
        </p:nvSpPr>
        <p:spPr>
          <a:xfrm>
            <a:off x="1234221" y="3376599"/>
            <a:ext cx="8993605" cy="39681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dk1"/>
                </a:solidFill>
                <a:latin typeface="Arial" panose="020B0604020202020204"/>
                <a:ea typeface="Arial" panose="020B0604020202020204"/>
                <a:cs typeface="Arial" panose="020B0604020202020204"/>
                <a:sym typeface="Arial" panose="020B0604020202020204"/>
              </a:rPr>
              <a:t>TEAM MEMBERS: </a:t>
            </a:r>
            <a:endParaRPr lang="en-US" sz="2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sz="2800" b="1">
                <a:solidFill>
                  <a:schemeClr val="dk1"/>
                </a:solidFill>
                <a:latin typeface="Arial" panose="020B0604020202020204"/>
                <a:ea typeface="Arial" panose="020B0604020202020204"/>
                <a:cs typeface="Arial" panose="020B0604020202020204"/>
                <a:sym typeface="Arial" panose="020B0604020202020204"/>
              </a:rPr>
              <a:t>HARI VISHVA S </a:t>
            </a:r>
            <a:endParaRPr lang="en-US" sz="2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Font typeface="Arial" panose="020B0604020202020204" pitchFamily="34" charset="0"/>
              <a:buNone/>
            </a:pPr>
            <a:endParaRPr 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sz="2800" b="1">
                <a:solidFill>
                  <a:schemeClr val="dk1"/>
                </a:solidFill>
                <a:latin typeface="Arial" panose="020B0604020202020204"/>
                <a:ea typeface="Arial" panose="020B0604020202020204"/>
                <a:cs typeface="Arial" panose="020B0604020202020204"/>
                <a:sym typeface="Arial" panose="020B0604020202020204"/>
              </a:rPr>
              <a:t>YUVARAJ H </a:t>
            </a:r>
            <a:endParaRPr lang="en-US" sz="2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Font typeface="Arial" panose="020B0604020202020204" pitchFamily="34" charset="0"/>
              <a:buNone/>
            </a:pPr>
            <a:endParaRPr 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sz="2800" b="1">
                <a:solidFill>
                  <a:schemeClr val="dk1"/>
                </a:solidFill>
                <a:latin typeface="Arial" panose="020B0604020202020204"/>
                <a:ea typeface="Arial" panose="020B0604020202020204"/>
                <a:cs typeface="Arial" panose="020B0604020202020204"/>
                <a:sym typeface="Arial" panose="020B0604020202020204"/>
              </a:rPr>
              <a:t>JOSHUA IMMANUEL E</a:t>
            </a:r>
            <a:endParaRPr lang="en-US" sz="2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Font typeface="Arial" panose="020B0604020202020204" pitchFamily="34" charset="0"/>
              <a:buNone/>
            </a:pPr>
            <a:r>
              <a:rPr lang="en-US" sz="2800" b="1">
                <a:solidFill>
                  <a:schemeClr val="dk1"/>
                </a:solidFill>
                <a:latin typeface="Arial" panose="020B0604020202020204"/>
                <a:ea typeface="Arial" panose="020B0604020202020204"/>
                <a:cs typeface="Arial" panose="020B0604020202020204"/>
                <a:sym typeface="Arial" panose="020B0604020202020204"/>
              </a:rPr>
              <a:t> </a:t>
            </a:r>
            <a:endParaRPr lang="en-US" sz="2800" b="1">
              <a:solidFill>
                <a:schemeClr val="dk1"/>
              </a:solidFill>
              <a:latin typeface="Arial" panose="020B0604020202020204"/>
              <a:ea typeface="Arial" panose="020B0604020202020204"/>
              <a:cs typeface="Arial" panose="020B0604020202020204"/>
              <a:sym typeface="Arial" panose="020B0604020202020204"/>
            </a:endParaRPr>
          </a:p>
          <a:p>
            <a:pPr marL="457200" marR="0" lvl="0" indent="-457200" algn="l" rtl="0">
              <a:spcBef>
                <a:spcPts val="0"/>
              </a:spcBef>
              <a:spcAft>
                <a:spcPts val="0"/>
              </a:spcAft>
              <a:buFont typeface="Arial" panose="020B0604020202020204" pitchFamily="34" charset="0"/>
              <a:buChar char="•"/>
            </a:pPr>
            <a:r>
              <a:rPr lang="en-US" sz="2800" b="1">
                <a:solidFill>
                  <a:schemeClr val="dk1"/>
                </a:solidFill>
                <a:latin typeface="Arial" panose="020B0604020202020204"/>
                <a:ea typeface="Arial" panose="020B0604020202020204"/>
                <a:cs typeface="Arial" panose="020B0604020202020204"/>
                <a:sym typeface="Arial" panose="020B0604020202020204"/>
              </a:rPr>
              <a:t>AHILESH GURU S</a:t>
            </a:r>
            <a:endParaRPr lang="en-US"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36" name="Google Shape;236;p10"/>
          <p:cNvSpPr txBox="1"/>
          <p:nvPr/>
        </p:nvSpPr>
        <p:spPr>
          <a:xfrm>
            <a:off x="888415" y="2216419"/>
            <a:ext cx="9685421"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a:solidFill>
                  <a:srgbClr val="2E3192"/>
                </a:solidFill>
                <a:latin typeface="Calibri" panose="020F0502020204030204"/>
                <a:ea typeface="Calibri" panose="020F0502020204030204"/>
                <a:cs typeface="Calibri" panose="020F0502020204030204"/>
                <a:sym typeface="Calibri" panose="020F0502020204030204"/>
              </a:rPr>
              <a:t>ACKNOWLEDGEMENTS</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8932</Words>
  <Application>WPS Presentation</Application>
  <PresentationFormat>Custom</PresentationFormat>
  <Paragraphs>184</Paragraphs>
  <Slides>14</Slides>
  <Notes>10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14</vt:i4>
      </vt:variant>
    </vt:vector>
  </HeadingPairs>
  <TitlesOfParts>
    <vt:vector size="22" baseType="lpstr">
      <vt:lpstr>Arial</vt:lpstr>
      <vt:lpstr>SimSun</vt:lpstr>
      <vt:lpstr>Wingdings</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yuvaraj</cp:lastModifiedBy>
  <cp:revision>2</cp:revision>
  <dcterms:created xsi:type="dcterms:W3CDTF">2006-08-16T00:00:00Z</dcterms:created>
  <dcterms:modified xsi:type="dcterms:W3CDTF">2026-08-20T12:08:59Z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9DD9DF7C2A074060B2FAF580BE887FD1_13</vt:lpwstr>
  </property>
  <property fmtid="{D5CDD505-2E9C-101B-9397-08002B2CF9AE}" pid="3" name="KSOProductBuildVer">
    <vt:lpwstr>1033-12.1.0.28032</vt:lpwstr>
  </property>
</Properties>
</file>